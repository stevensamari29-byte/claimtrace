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93c34df06374d3d" /><Relationship Type="http://schemas.openxmlformats.org/officeDocument/2006/relationships/extended-properties" Target="/docProps/app.xml" Id="Ra4cf608111934e70" /><Relationship Type="http://schemas.openxmlformats.org/officeDocument/2006/relationships/officeDocument" Target="/ppt/presentation.xml" Id="R0c850711a8734062" /></Relationships>
</file>

<file path=ppt/presentation.xml><?xml version="1.0" encoding="utf-8"?>
<p:presentation xmlns:p="http://schemas.openxmlformats.org/presentationml/2006/main">
  <p:sldMasterIdLst>
    <p:sldMasterId xmlns:r="http://schemas.openxmlformats.org/officeDocument/2006/relationships" id="2147483648" r:id="R37a70294b26b4f6b"/>
  </p:sldMasterIdLst>
  <p:notesMasterIdLst>
    <p:notesMasterId xmlns:r="http://schemas.openxmlformats.org/officeDocument/2006/relationships" r:id="R4ed4990814b54f93"/>
  </p:notesMasterIdLst>
  <p:sldIdLst>
    <p:sldId xmlns:r="http://schemas.openxmlformats.org/officeDocument/2006/relationships" id="256" r:id="R79908aaf58a2411a"/>
    <p:sldId xmlns:r="http://schemas.openxmlformats.org/officeDocument/2006/relationships" id="257" r:id="R91c9c8ed18904927"/>
    <p:sldId xmlns:r="http://schemas.openxmlformats.org/officeDocument/2006/relationships" id="258" r:id="R4cc0fdef8f7d4caa"/>
    <p:sldId xmlns:r="http://schemas.openxmlformats.org/officeDocument/2006/relationships" id="259" r:id="R4d6045ac1cbc4434"/>
    <p:sldId xmlns:r="http://schemas.openxmlformats.org/officeDocument/2006/relationships" id="260" r:id="Re627589c2ee34ec1"/>
    <p:sldId xmlns:r="http://schemas.openxmlformats.org/officeDocument/2006/relationships" id="261" r:id="R249d01028b884cc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45cce37b74649b0" /><Relationship Type="http://schemas.openxmlformats.org/officeDocument/2006/relationships/slideMaster" Target="/ppt/slideMasters/slideMaster1.xml" Id="R37a70294b26b4f6b" /><Relationship Type="http://schemas.openxmlformats.org/officeDocument/2006/relationships/notesMaster" Target="/ppt/notesMasters/notesMaster1.xml" Id="R4ed4990814b54f93" /><Relationship Type="http://schemas.openxmlformats.org/officeDocument/2006/relationships/presProps" Target="/ppt/presProps.xml" Id="Rd4c73a1fd48a49c9" /><Relationship Type="http://schemas.openxmlformats.org/officeDocument/2006/relationships/tableStyles" Target="/ppt/tableStyles.xml" Id="R9c5ec2453f814d0f" /><Relationship Type="http://schemas.openxmlformats.org/officeDocument/2006/relationships/slide" Target="/ppt/slides/slide1.xml" Id="R79908aaf58a2411a" /><Relationship Type="http://schemas.openxmlformats.org/officeDocument/2006/relationships/slide" Target="/ppt/slides/slide2.xml" Id="R91c9c8ed18904927" /><Relationship Type="http://schemas.openxmlformats.org/officeDocument/2006/relationships/slide" Target="/ppt/slides/slide3.xml" Id="R4cc0fdef8f7d4caa" /><Relationship Type="http://schemas.openxmlformats.org/officeDocument/2006/relationships/slide" Target="/ppt/slides/slide4.xml" Id="R4d6045ac1cbc4434" /><Relationship Type="http://schemas.openxmlformats.org/officeDocument/2006/relationships/slide" Target="/ppt/slides/slide5.xml" Id="Re627589c2ee34ec1" /><Relationship Type="http://schemas.openxmlformats.org/officeDocument/2006/relationships/slide" Target="/ppt/slides/slide6.xml" Id="R249d01028b884c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be107dc6c8416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8d171a652404085" /><Relationship Type="http://schemas.openxmlformats.org/officeDocument/2006/relationships/notesMaster" Target="/ppt/notesMasters/notesMaster1.xml" Id="Rdf4a0b4029cc42f9" /></Relationships>
</file>

<file path=ppt/notesSlides/_rels/notesSlide2.xml.rels>&#65279;<?xml version="1.0" encoding="utf-8"?><Relationships xmlns="http://schemas.openxmlformats.org/package/2006/relationships"><Relationship Type="http://schemas.openxmlformats.org/officeDocument/2006/relationships/slide" Target="/ppt/slides/slide2.xml" Id="R2c9c81630b0c497c" /><Relationship Type="http://schemas.openxmlformats.org/officeDocument/2006/relationships/notesMaster" Target="/ppt/notesMasters/notesMaster1.xml" Id="R5225b15ceacc417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2e565516b284ff9" /><Relationship Type="http://schemas.openxmlformats.org/officeDocument/2006/relationships/notesMaster" Target="/ppt/notesMasters/notesMaster1.xml" Id="Rbb4a8d4039d244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36e3ccb6f5442eb" /><Relationship Type="http://schemas.openxmlformats.org/officeDocument/2006/relationships/notesMaster" Target="/ppt/notesMasters/notesMaster1.xml" Id="Rf074379a31b14cc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60823dc7a314cc8" /><Relationship Type="http://schemas.openxmlformats.org/officeDocument/2006/relationships/notesMaster" Target="/ppt/notesMasters/notesMaster1.xml" Id="R3ee16b8b100c437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04ea59bd884d50" /><Relationship Type="http://schemas.openxmlformats.org/officeDocument/2006/relationships/notesMaster" Target="/ppt/notesMasters/notesMaster1.xml" Id="Rb56dbd70cc94421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definition and observed scope: README.md; work/run-review-qa.md; work/live-sponsor-qa.md. No production accuracy, productivity or full sponsor-compliance claim. This is an internal review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browser/API controller evidence: docs/frontend-integration.md; work/run-review-qa.md. Actual NVIDIA partial receipts and failures: work/live-sponsor-qa.md and docs/nvidia-activation.md. The current browser remains deterministic. Direct NVIDIA is not Nightshift.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actual HTTP runs are preserved in .local/submission/samples.json and individual output files. Run IDs: supported: 10082dea-a551-4e0b-80ae-33dcc4decd87; contradicted: 05f2b9a6-e87b-4e4e-b62b-b80531a133ca; cutoff: 1ad5e77e-d8e7-46ce-ac54-476278cbb3a3. Assertions are analyst test inputs, not issuer quotations. SEC source https://www.sec.gov/Archives/edgar/data/1035267/000103526726000058/isrg-20260630.htm, published July 21, 2026. The cutoff case deliberately predates this filing; an earlier issuer release requires its own verified ingestion.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Safeguards: backend/investigation/model_contracts.py; dispatcher.py; tools.py; memory.py; backend/run_store.py. Genuine H-MEM engine/store/review/recall tests: work/live-sponsor-qa.md. Correction tests use synthetic financial inputs and deterministic hash embeddings, not semantic embedding inference or real human financial sign-off. Original filing rounding and upstream Zetaris DOUBLE precision cannot be recovered.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Sponsor evidence: README.md integration matrix; docs/nightshift-windows-activation.md; docs/nvidia-activation.md; work/live-sponsor-qa.md. The owner manually started Nightshift 1.2.7. Actual CLI status/discover now succeed and the cloud preview runtime is reachable. Authenticated model discovery succeeded. A real uncached cloud NVIDIA Lightning smoke completion matched the requested model and provider. One bounded financial dispatcher run returned a real uncached native proposal, receipt rcpt_req_6ma1r4ho. The host rejected the proposal before claim registration or evidence retrieval. The run collected zero evidence and accepted no conclusion. Human review remains required. No completed model financial investigation is claimed. No local model was loaded. Direct NVIDIA does not satisfy the mandatory Nightshift-provider requirement. H-MEM actual engine execution is separate from Nightshift inference. No qualifying Cursor contribution follows from installation.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organizer checklist supplied by the project lead: working end-to-end application, tested Zetaris, functioning Meterless Engine feature, Nightshift as AI provider, genuine traces, three README samples, 1–4-minute video, deck, accessible GitHub repository and accurate disclosures. Current saved main is 0a6f6fb, with PRs7–13 merged. This deck does not authorize deploy, publishing, judge invitations or submission. Authenticated Nightshift smoke inference is now verified, separately from the rejected native financial proposal. Evidence receipts: work/nightshift-investigation.json and .local/nightshift-smoke.json. The financial run collected zero evidence, produced no accepted conclusion, and requires human review. HackOS solo-Amari draft and media uploads are prepared but not submitted. Cursor remains optional under the current official rules, and no qualifying contribution is claimed. Video existence/duration must be checked by the lead separately; no recorded video is claimed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3eb758ee219470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f0fa5e2669b404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bd994788f0c41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6752de51051452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42cd324591a4c8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ce8162c2e4f4a0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5B6409-28E5-45AB-9ACE-4E30D8B7E4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6538F29-4C05-4D7B-B4A7-DC4339F3F96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65BD3E0-AF13-4309-98BC-AF4DA2B6D03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9941EB-67F0-4567-9DFA-17DF01731F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41BFA12-0FF2-430B-817C-9FE887C4571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04E1D18-5238-40F7-A04F-A050750CDB3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2213A38-209B-4E8C-B1B5-936A143F175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DC2CDC4-6223-4E24-B5CF-A3237E218E2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84662B-64C3-488A-8221-F746D6F1EDF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4A7399-59DC-4069-9126-C49FB2D3E44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10ca6fcf9c427c" /><Relationship Type="http://schemas.openxmlformats.org/officeDocument/2006/relationships/slideLayout" Target="/ppt/slideLayouts/slideLayout1.xml" Id="Rfc349f453dfb4587" /><Relationship Type="http://schemas.openxmlformats.org/officeDocument/2006/relationships/slideLayout" Target="/ppt/slideLayouts/slideLayout2.xml" Id="R9e2275d1ab56420a" /><Relationship Type="http://schemas.openxmlformats.org/officeDocument/2006/relationships/slideLayout" Target="/ppt/slideLayouts/slideLayout3.xml" Id="Rc7b7d0f095e84658" /><Relationship Type="http://schemas.openxmlformats.org/officeDocument/2006/relationships/slideLayout" Target="/ppt/slideLayouts/slideLayout4.xml" Id="R2114f04f9f44401d" /><Relationship Type="http://schemas.openxmlformats.org/officeDocument/2006/relationships/slideLayout" Target="/ppt/slideLayouts/slideLayout5.xml" Id="R06af528be9ee4fbd" /><Relationship Type="http://schemas.openxmlformats.org/officeDocument/2006/relationships/slideLayout" Target="/ppt/slideLayouts/slideLayout6.xml" Id="R386993156ad84d4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349f453dfb4587"/>
    <p:sldLayoutId xmlns:r="http://schemas.openxmlformats.org/officeDocument/2006/relationships" id="2147483650" r:id="R9e2275d1ab56420a"/>
    <p:sldLayoutId xmlns:r="http://schemas.openxmlformats.org/officeDocument/2006/relationships" id="2147483651" r:id="Rc7b7d0f095e84658"/>
    <p:sldLayoutId xmlns:r="http://schemas.openxmlformats.org/officeDocument/2006/relationships" id="2147483652" r:id="R2114f04f9f44401d"/>
    <p:sldLayoutId xmlns:r="http://schemas.openxmlformats.org/officeDocument/2006/relationships" id="2147483653" r:id="R06af528be9ee4fbd"/>
    <p:sldLayoutId xmlns:r="http://schemas.openxmlformats.org/officeDocument/2006/relationships" id="2147483654" r:id="R386993156ad84d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c3f286348314d0b" /><Relationship Type="http://schemas.openxmlformats.org/officeDocument/2006/relationships/notesSlide" Target="/ppt/notesSlides/notesSlide1.xml" Id="Rd8247fe92d784a2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494e46f5e1047c8" /><Relationship Type="http://schemas.openxmlformats.org/officeDocument/2006/relationships/notesSlide" Target="/ppt/notesSlides/notesSlide2.xml" Id="R7ddb064754a345c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c05d90ac13d4493" /><Relationship Type="http://schemas.openxmlformats.org/officeDocument/2006/relationships/notesSlide" Target="/ppt/notesSlides/notesSlide3.xml" Id="Re46ed5c51a9140d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98210350570426e" /><Relationship Type="http://schemas.openxmlformats.org/officeDocument/2006/relationships/notesSlide" Target="/ppt/notesSlides/notesSlide4.xml" Id="R37f32143b62f45b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4709aab2161484f" /><Relationship Type="http://schemas.openxmlformats.org/officeDocument/2006/relationships/notesSlide" Target="/ppt/notesSlides/notesSlide5.xml" Id="Rfbfc5fa15f8b41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740f7939b4b4538" /><Relationship Type="http://schemas.openxmlformats.org/officeDocument/2006/relationships/notesSlide" Target="/ppt/notesSlides/notesSlide6.xml" Id="Racb2c842d41840cb" /></Relationships>
</file>

<file path=ppt/slides/slide1.xml><?xml version="1.0" encoding="utf-8"?>
<p:sld xmlns:p="http://schemas.openxmlformats.org/presentationml/2006/main">
  <p:cSld>
    <p:bg>
      <p:bgPr>
        <a:solidFill xmlns:a="http://schemas.openxmlformats.org/drawingml/2006/main">
          <a:srgbClr val="12223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F6824A5-E924-455A-A129-2BB12290FA51}"/>
              </a:ext>
            </a:extLst>
          </p:cNvPr>
          <p:cNvSpPr>
            <a:spLocks xmlns:a="http://schemas.openxmlformats.org/drawingml/2006/main" noGrp="1"/>
          </p:cNvSpPr>
          <p:nvPr/>
        </p:nvSpPr>
        <p:spPr>
          <a:xfrm xmlns:a="http://schemas.openxmlformats.org/drawingml/2006/main">
            <a:off x="685800" y="1285875"/>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5400" b="1">
                <a:solidFill>
                  <a:srgbClr val="D7B66B"/>
                </a:solidFill>
                <a:latin typeface="Arial"/>
                <a:ea typeface="Arial"/>
                <a:cs typeface="Arial"/>
              </a:defRPr>
            </a:defPPr>
            <a:lvl1pPr>
              <a:defRPr sz="5400" b="1">
                <a:solidFill>
                  <a:srgbClr val="D7B66B"/>
                </a:solidFill>
                <a:latin typeface="Arial"/>
                <a:ea typeface="Arial"/>
                <a:cs typeface="Arial"/>
              </a:defRPr>
            </a:lvl1pPr>
            <a:lvl2pPr>
              <a:defRPr sz="5400" b="1">
                <a:solidFill>
                  <a:srgbClr val="D7B66B"/>
                </a:solidFill>
                <a:latin typeface="Arial"/>
                <a:ea typeface="Arial"/>
                <a:cs typeface="Arial"/>
              </a:defRPr>
            </a:lvl2pPr>
            <a:lvl3pPr>
              <a:defRPr sz="5400" b="1">
                <a:solidFill>
                  <a:srgbClr val="D7B66B"/>
                </a:solidFill>
                <a:latin typeface="Arial"/>
                <a:ea typeface="Arial"/>
                <a:cs typeface="Arial"/>
              </a:defRPr>
            </a:lvl3pPr>
            <a:lvl4pPr>
              <a:defRPr sz="5400" b="1">
                <a:solidFill>
                  <a:srgbClr val="D7B66B"/>
                </a:solidFill>
                <a:latin typeface="Arial"/>
                <a:ea typeface="Arial"/>
                <a:cs typeface="Arial"/>
              </a:defRPr>
            </a:lvl4pPr>
            <a:lvl5pPr>
              <a:defRPr sz="5400" b="1">
                <a:solidFill>
                  <a:srgbClr val="D7B66B"/>
                </a:solidFill>
                <a:latin typeface="Arial"/>
                <a:ea typeface="Arial"/>
                <a:cs typeface="Arial"/>
              </a:defRPr>
            </a:lvl5pPr>
            <a:lvl6pPr>
              <a:defRPr sz="5400" b="1">
                <a:solidFill>
                  <a:srgbClr val="D7B66B"/>
                </a:solidFill>
                <a:latin typeface="Arial"/>
                <a:ea typeface="Arial"/>
                <a:cs typeface="Arial"/>
              </a:defRPr>
            </a:lvl6pPr>
            <a:lvl7pPr>
              <a:defRPr sz="5400" b="1">
                <a:solidFill>
                  <a:srgbClr val="D7B66B"/>
                </a:solidFill>
                <a:latin typeface="Arial"/>
                <a:ea typeface="Arial"/>
                <a:cs typeface="Arial"/>
              </a:defRPr>
            </a:lvl7pPr>
            <a:lvl8pPr>
              <a:defRPr sz="5400" b="1">
                <a:solidFill>
                  <a:srgbClr val="D7B66B"/>
                </a:solidFill>
                <a:latin typeface="Arial"/>
                <a:ea typeface="Arial"/>
                <a:cs typeface="Arial"/>
              </a:defRPr>
            </a:lvl8pPr>
            <a:lvl9pPr>
              <a:defRPr sz="5400" b="1">
                <a:solidFill>
                  <a:srgbClr val="D7B66B"/>
                </a:solidFill>
                <a:latin typeface="Arial"/>
                <a:ea typeface="Arial"/>
                <a:cs typeface="Arial"/>
              </a:defRPr>
            </a:lvl9pPr>
          </a:lstStyle>
          <a:p xmlns:a="http://schemas.openxmlformats.org/drawingml/2006/main">
            <a:pPr>
              <a:defRPr sz="5400" b="1">
                <a:solidFill>
                  <a:srgbClr val="D7B66B"/>
                </a:solidFill>
                <a:latin typeface="Arial"/>
                <a:ea typeface="Arial"/>
                <a:cs typeface="Arial"/>
              </a:defRPr>
            </a:pPr>
            <a:r>
              <a:rPr sz="5400" b="1">
                <a:solidFill>
                  <a:srgbClr val="D7B66B"/>
                </a:solidFill>
                <a:latin typeface="Arial"/>
                <a:ea typeface="Arial"/>
                <a:cs typeface="Arial"/>
              </a:rPr>
              <a:t>ClaimTrace</a:t>
            </a:r>
          </a:p>
        </p:txBody>
      </p:sp>
      <p:sp>
        <p:nvSpPr>
          <p:cNvPr id="2" name="">
            <a:extLst xmlns:a="http://schemas.openxmlformats.org/drawingml/2006/main">
              <a:ext uri="{FF2B5EF4-FFF2-40B4-BE49-F238E27FC236}">
                <a16:creationId xmlns:a16="http://schemas.microsoft.com/office/drawing/2014/main" id="{E86E202C-7811-424C-9255-6F0A4598C78A}"/>
              </a:ext>
            </a:extLst>
          </p:cNvPr>
          <p:cNvSpPr>
            <a:spLocks xmlns:a="http://schemas.openxmlformats.org/drawingml/2006/main" noGrp="1"/>
          </p:cNvSpPr>
          <p:nvPr/>
        </p:nvSpPr>
        <p:spPr>
          <a:xfrm xmlns:a="http://schemas.openxmlformats.org/drawingml/2006/main">
            <a:off x="723900" y="24003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000" b="0">
                <a:solidFill>
                  <a:srgbClr val="FFFFFF"/>
                </a:solidFill>
                <a:latin typeface="Arial"/>
                <a:ea typeface="Arial"/>
                <a:cs typeface="Arial"/>
              </a:defRPr>
            </a:defPPr>
            <a:lvl1pPr>
              <a:defRPr sz="3000" b="0">
                <a:solidFill>
                  <a:srgbClr val="FFFFFF"/>
                </a:solidFill>
                <a:latin typeface="Arial"/>
                <a:ea typeface="Arial"/>
                <a:cs typeface="Arial"/>
              </a:defRPr>
            </a:lvl1pPr>
            <a:lvl2pPr>
              <a:defRPr sz="3000" b="0">
                <a:solidFill>
                  <a:srgbClr val="FFFFFF"/>
                </a:solidFill>
                <a:latin typeface="Arial"/>
                <a:ea typeface="Arial"/>
                <a:cs typeface="Arial"/>
              </a:defRPr>
            </a:lvl2pPr>
            <a:lvl3pPr>
              <a:defRPr sz="3000" b="0">
                <a:solidFill>
                  <a:srgbClr val="FFFFFF"/>
                </a:solidFill>
                <a:latin typeface="Arial"/>
                <a:ea typeface="Arial"/>
                <a:cs typeface="Arial"/>
              </a:defRPr>
            </a:lvl3pPr>
            <a:lvl4pPr>
              <a:defRPr sz="3000" b="0">
                <a:solidFill>
                  <a:srgbClr val="FFFFFF"/>
                </a:solidFill>
                <a:latin typeface="Arial"/>
                <a:ea typeface="Arial"/>
                <a:cs typeface="Arial"/>
              </a:defRPr>
            </a:lvl4pPr>
            <a:lvl5pPr>
              <a:defRPr sz="3000" b="0">
                <a:solidFill>
                  <a:srgbClr val="FFFFFF"/>
                </a:solidFill>
                <a:latin typeface="Arial"/>
                <a:ea typeface="Arial"/>
                <a:cs typeface="Arial"/>
              </a:defRPr>
            </a:lvl5pPr>
            <a:lvl6pPr>
              <a:defRPr sz="3000" b="0">
                <a:solidFill>
                  <a:srgbClr val="FFFFFF"/>
                </a:solidFill>
                <a:latin typeface="Arial"/>
                <a:ea typeface="Arial"/>
                <a:cs typeface="Arial"/>
              </a:defRPr>
            </a:lvl6pPr>
            <a:lvl7pPr>
              <a:defRPr sz="3000" b="0">
                <a:solidFill>
                  <a:srgbClr val="FFFFFF"/>
                </a:solidFill>
                <a:latin typeface="Arial"/>
                <a:ea typeface="Arial"/>
                <a:cs typeface="Arial"/>
              </a:defRPr>
            </a:lvl7pPr>
            <a:lvl8pPr>
              <a:defRPr sz="3000" b="0">
                <a:solidFill>
                  <a:srgbClr val="FFFFFF"/>
                </a:solidFill>
                <a:latin typeface="Arial"/>
                <a:ea typeface="Arial"/>
                <a:cs typeface="Arial"/>
              </a:defRPr>
            </a:lvl8pPr>
            <a:lvl9pPr>
              <a:defRPr sz="3000" b="0">
                <a:solidFill>
                  <a:srgbClr val="FFFFFF"/>
                </a:solidFill>
                <a:latin typeface="Arial"/>
                <a:ea typeface="Arial"/>
                <a:cs typeface="Arial"/>
              </a:defRPr>
            </a:lvl9pPr>
          </a:lstStyle>
          <a:p xmlns:a="http://schemas.openxmlformats.org/drawingml/2006/main">
            <a:pPr>
              <a:defRPr sz="3000" b="0">
                <a:solidFill>
                  <a:srgbClr val="FFFFFF"/>
                </a:solidFill>
                <a:latin typeface="Arial"/>
                <a:ea typeface="Arial"/>
                <a:cs typeface="Arial"/>
              </a:defRPr>
            </a:pPr>
            <a:r>
              <a:rPr sz="3000" b="0">
                <a:solidFill>
                  <a:srgbClr val="FFFFFF"/>
                </a:solidFill>
                <a:latin typeface="Arial"/>
                <a:ea typeface="Arial"/>
                <a:cs typeface="Arial"/>
              </a:rPr>
              <a:t>Earnings Brief Gatekeeper</a:t>
            </a:r>
          </a:p>
        </p:txBody>
      </p:sp>
      <p:sp>
        <p:nvSpPr>
          <p:cNvPr id="3" name="">
            <a:extLst xmlns:a="http://schemas.openxmlformats.org/drawingml/2006/main">
              <a:ext uri="{FF2B5EF4-FFF2-40B4-BE49-F238E27FC236}">
                <a16:creationId xmlns:a16="http://schemas.microsoft.com/office/drawing/2014/main" id="{39E1DADC-175E-47BF-83A9-E539A7690B74}"/>
              </a:ext>
            </a:extLst>
          </p:cNvPr>
          <p:cNvSpPr>
            <a:spLocks xmlns:a="http://schemas.openxmlformats.org/drawingml/2006/main" noGrp="1"/>
          </p:cNvSpPr>
          <p:nvPr/>
        </p:nvSpPr>
        <p:spPr>
          <a:xfrm xmlns:a="http://schemas.openxmlformats.org/drawingml/2006/main">
            <a:off x="723900" y="3333750"/>
            <a:ext cx="1028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D8E0E5"/>
                </a:solidFill>
                <a:latin typeface="Arial"/>
                <a:ea typeface="Arial"/>
                <a:cs typeface="Arial"/>
              </a:defRPr>
            </a:defPPr>
            <a:lvl1pPr>
              <a:defRPr sz="2250" b="0">
                <a:solidFill>
                  <a:srgbClr val="D8E0E5"/>
                </a:solidFill>
                <a:latin typeface="Arial"/>
                <a:ea typeface="Arial"/>
                <a:cs typeface="Arial"/>
              </a:defRPr>
            </a:lvl1pPr>
            <a:lvl2pPr>
              <a:defRPr sz="2250" b="0">
                <a:solidFill>
                  <a:srgbClr val="D8E0E5"/>
                </a:solidFill>
                <a:latin typeface="Arial"/>
                <a:ea typeface="Arial"/>
                <a:cs typeface="Arial"/>
              </a:defRPr>
            </a:lvl2pPr>
            <a:lvl3pPr>
              <a:defRPr sz="2250" b="0">
                <a:solidFill>
                  <a:srgbClr val="D8E0E5"/>
                </a:solidFill>
                <a:latin typeface="Arial"/>
                <a:ea typeface="Arial"/>
                <a:cs typeface="Arial"/>
              </a:defRPr>
            </a:lvl3pPr>
            <a:lvl4pPr>
              <a:defRPr sz="2250" b="0">
                <a:solidFill>
                  <a:srgbClr val="D8E0E5"/>
                </a:solidFill>
                <a:latin typeface="Arial"/>
                <a:ea typeface="Arial"/>
                <a:cs typeface="Arial"/>
              </a:defRPr>
            </a:lvl4pPr>
            <a:lvl5pPr>
              <a:defRPr sz="2250" b="0">
                <a:solidFill>
                  <a:srgbClr val="D8E0E5"/>
                </a:solidFill>
                <a:latin typeface="Arial"/>
                <a:ea typeface="Arial"/>
                <a:cs typeface="Arial"/>
              </a:defRPr>
            </a:lvl5pPr>
            <a:lvl6pPr>
              <a:defRPr sz="2250" b="0">
                <a:solidFill>
                  <a:srgbClr val="D8E0E5"/>
                </a:solidFill>
                <a:latin typeface="Arial"/>
                <a:ea typeface="Arial"/>
                <a:cs typeface="Arial"/>
              </a:defRPr>
            </a:lvl6pPr>
            <a:lvl7pPr>
              <a:defRPr sz="2250" b="0">
                <a:solidFill>
                  <a:srgbClr val="D8E0E5"/>
                </a:solidFill>
                <a:latin typeface="Arial"/>
                <a:ea typeface="Arial"/>
                <a:cs typeface="Arial"/>
              </a:defRPr>
            </a:lvl7pPr>
            <a:lvl8pPr>
              <a:defRPr sz="2250" b="0">
                <a:solidFill>
                  <a:srgbClr val="D8E0E5"/>
                </a:solidFill>
                <a:latin typeface="Arial"/>
                <a:ea typeface="Arial"/>
                <a:cs typeface="Arial"/>
              </a:defRPr>
            </a:lvl8pPr>
            <a:lvl9pPr>
              <a:defRPr sz="2250" b="0">
                <a:solidFill>
                  <a:srgbClr val="D8E0E5"/>
                </a:solidFill>
                <a:latin typeface="Arial"/>
                <a:ea typeface="Arial"/>
                <a:cs typeface="Arial"/>
              </a:defRPr>
            </a:lvl9pPr>
          </a:lstStyle>
          <a:p xmlns:a="http://schemas.openxmlformats.org/drawingml/2006/main">
            <a:pPr>
              <a:defRPr sz="2250" b="0">
                <a:solidFill>
                  <a:srgbClr val="D8E0E5"/>
                </a:solidFill>
                <a:latin typeface="Arial"/>
                <a:ea typeface="Arial"/>
                <a:cs typeface="Arial"/>
              </a:defRPr>
            </a:pPr>
            <a:r>
              <a:rPr sz="2250" b="0">
                <a:solidFill>
                  <a:srgbClr val="D8E0E5"/>
                </a:solidFill>
                <a:latin typeface="Arial"/>
                <a:ea typeface="Arial"/>
                <a:cs typeface="Arial"/>
              </a:rPr>
              <a:t>Quarterly financial claims, evidence and human review</a:t>
            </a:r>
          </a:p>
        </p:txBody>
      </p:sp>
      <p:sp>
        <p:nvSpPr>
          <p:cNvPr id="4" name="">
            <a:extLst xmlns:a="http://schemas.openxmlformats.org/drawingml/2006/main">
              <a:ext uri="{FF2B5EF4-FFF2-40B4-BE49-F238E27FC236}">
                <a16:creationId xmlns:a16="http://schemas.microsoft.com/office/drawing/2014/main" id="{EF537A40-2678-44DA-B374-24CE0A696FE9}"/>
              </a:ext>
            </a:extLst>
          </p:cNvPr>
          <p:cNvSpPr>
            <a:spLocks xmlns:a="http://schemas.openxmlformats.org/drawingml/2006/main" noGrp="1"/>
          </p:cNvSpPr>
          <p:nvPr/>
        </p:nvSpPr>
        <p:spPr>
          <a:xfrm xmlns:a="http://schemas.openxmlformats.org/drawingml/2006/main">
            <a:off x="723900" y="5381625"/>
            <a:ext cx="1028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E5C285"/>
                </a:solidFill>
                <a:latin typeface="Arial"/>
                <a:ea typeface="Arial"/>
                <a:cs typeface="Arial"/>
              </a:defRPr>
            </a:defPPr>
            <a:lvl1pPr>
              <a:defRPr sz="1725" b="0">
                <a:solidFill>
                  <a:srgbClr val="E5C285"/>
                </a:solidFill>
                <a:latin typeface="Arial"/>
                <a:ea typeface="Arial"/>
                <a:cs typeface="Arial"/>
              </a:defRPr>
            </a:lvl1pPr>
            <a:lvl2pPr>
              <a:defRPr sz="1725" b="0">
                <a:solidFill>
                  <a:srgbClr val="E5C285"/>
                </a:solidFill>
                <a:latin typeface="Arial"/>
                <a:ea typeface="Arial"/>
                <a:cs typeface="Arial"/>
              </a:defRPr>
            </a:lvl2pPr>
            <a:lvl3pPr>
              <a:defRPr sz="1725" b="0">
                <a:solidFill>
                  <a:srgbClr val="E5C285"/>
                </a:solidFill>
                <a:latin typeface="Arial"/>
                <a:ea typeface="Arial"/>
                <a:cs typeface="Arial"/>
              </a:defRPr>
            </a:lvl3pPr>
            <a:lvl4pPr>
              <a:defRPr sz="1725" b="0">
                <a:solidFill>
                  <a:srgbClr val="E5C285"/>
                </a:solidFill>
                <a:latin typeface="Arial"/>
                <a:ea typeface="Arial"/>
                <a:cs typeface="Arial"/>
              </a:defRPr>
            </a:lvl4pPr>
            <a:lvl5pPr>
              <a:defRPr sz="1725" b="0">
                <a:solidFill>
                  <a:srgbClr val="E5C285"/>
                </a:solidFill>
                <a:latin typeface="Arial"/>
                <a:ea typeface="Arial"/>
                <a:cs typeface="Arial"/>
              </a:defRPr>
            </a:lvl5pPr>
            <a:lvl6pPr>
              <a:defRPr sz="1725" b="0">
                <a:solidFill>
                  <a:srgbClr val="E5C285"/>
                </a:solidFill>
                <a:latin typeface="Arial"/>
                <a:ea typeface="Arial"/>
                <a:cs typeface="Arial"/>
              </a:defRPr>
            </a:lvl6pPr>
            <a:lvl7pPr>
              <a:defRPr sz="1725" b="0">
                <a:solidFill>
                  <a:srgbClr val="E5C285"/>
                </a:solidFill>
                <a:latin typeface="Arial"/>
                <a:ea typeface="Arial"/>
                <a:cs typeface="Arial"/>
              </a:defRPr>
            </a:lvl7pPr>
            <a:lvl8pPr>
              <a:defRPr sz="1725" b="0">
                <a:solidFill>
                  <a:srgbClr val="E5C285"/>
                </a:solidFill>
                <a:latin typeface="Arial"/>
                <a:ea typeface="Arial"/>
                <a:cs typeface="Arial"/>
              </a:defRPr>
            </a:lvl8pPr>
            <a:lvl9pPr>
              <a:defRPr sz="1725" b="0">
                <a:solidFill>
                  <a:srgbClr val="E5C285"/>
                </a:solidFill>
                <a:latin typeface="Arial"/>
                <a:ea typeface="Arial"/>
                <a:cs typeface="Arial"/>
              </a:defRPr>
            </a:lvl9pPr>
          </a:lstStyle>
          <a:p xmlns:a="http://schemas.openxmlformats.org/drawingml/2006/main">
            <a:pPr>
              <a:defRPr sz="1725" b="0">
                <a:solidFill>
                  <a:srgbClr val="E5C285"/>
                </a:solidFill>
                <a:latin typeface="Arial"/>
                <a:ea typeface="Arial"/>
                <a:cs typeface="Arial"/>
              </a:defRPr>
            </a:pPr>
            <a:r>
              <a:rPr sz="1725" b="0">
                <a:solidFill>
                  <a:srgbClr val="E5C285"/>
                </a:solidFill>
                <a:latin typeface="Arial"/>
                <a:ea typeface="Arial"/>
                <a:cs typeface="Arial"/>
              </a:rPr>
              <a:t>Internal review • October 27, 2026</a:t>
            </a:r>
          </a:p>
          <a:p xmlns:a="http://schemas.openxmlformats.org/drawingml/2006/main">
            <a:pPr>
              <a:defRPr sz="1725" b="0">
                <a:solidFill>
                  <a:srgbClr val="E5C285"/>
                </a:solidFill>
                <a:latin typeface="Arial"/>
                <a:ea typeface="Arial"/>
                <a:cs typeface="Arial"/>
              </a:defRPr>
            </a:pPr>
            <a:r>
              <a:rPr sz="1725" b="0">
                <a:solidFill>
                  <a:srgbClr val="E5C285"/>
                </a:solidFill>
                <a:latin typeface="Arial"/>
                <a:ea typeface="Arial"/>
                <a:cs typeface="Arial"/>
              </a:rPr>
              <a:t>Nightshift inference verified; complete AI investigation remains unmet</a:t>
            </a:r>
          </a:p>
        </p:txBody>
      </p:sp>
    </p:spTree>
    <p:extLst>
      <p:ext uri="{BB962C8B-B14F-4D97-AF65-F5344CB8AC3E}">
        <p14:creationId xmlns:p14="http://schemas.microsoft.com/office/powerpoint/2010/main" val="1243759380"/>
      </p:ext>
    </p:extLst>
  </p:cSld>
</p:sld>
</file>

<file path=ppt/slides/slide2.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BEF35C9-4CE4-47B4-AC02-11F8130E82AC}"/>
              </a:ext>
            </a:extLst>
          </p:cNvPr>
          <p:cNvSpPr>
            <a:spLocks xmlns:a="http://schemas.openxmlformats.org/drawingml/2006/main" noGrp="1"/>
          </p:cNvSpPr>
          <p:nvPr/>
        </p:nvSpPr>
        <p:spPr>
          <a:xfrm xmlns:a="http://schemas.openxmlformats.org/drawingml/2006/main">
            <a:off x="685800" y="4762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82738"/>
                </a:solidFill>
                <a:latin typeface="Arial"/>
                <a:ea typeface="Arial"/>
                <a:cs typeface="Arial"/>
              </a:defRPr>
            </a:defPPr>
            <a:lvl1pPr>
              <a:defRPr sz="3300" b="1">
                <a:solidFill>
                  <a:srgbClr val="182738"/>
                </a:solidFill>
                <a:latin typeface="Arial"/>
                <a:ea typeface="Arial"/>
                <a:cs typeface="Arial"/>
              </a:defRPr>
            </a:lvl1pPr>
            <a:lvl2pPr>
              <a:defRPr sz="3300" b="1">
                <a:solidFill>
                  <a:srgbClr val="182738"/>
                </a:solidFill>
                <a:latin typeface="Arial"/>
                <a:ea typeface="Arial"/>
                <a:cs typeface="Arial"/>
              </a:defRPr>
            </a:lvl2pPr>
            <a:lvl3pPr>
              <a:defRPr sz="3300" b="1">
                <a:solidFill>
                  <a:srgbClr val="182738"/>
                </a:solidFill>
                <a:latin typeface="Arial"/>
                <a:ea typeface="Arial"/>
                <a:cs typeface="Arial"/>
              </a:defRPr>
            </a:lvl3pPr>
            <a:lvl4pPr>
              <a:defRPr sz="3300" b="1">
                <a:solidFill>
                  <a:srgbClr val="182738"/>
                </a:solidFill>
                <a:latin typeface="Arial"/>
                <a:ea typeface="Arial"/>
                <a:cs typeface="Arial"/>
              </a:defRPr>
            </a:lvl4pPr>
            <a:lvl5pPr>
              <a:defRPr sz="3300" b="1">
                <a:solidFill>
                  <a:srgbClr val="182738"/>
                </a:solidFill>
                <a:latin typeface="Arial"/>
                <a:ea typeface="Arial"/>
                <a:cs typeface="Arial"/>
              </a:defRPr>
            </a:lvl5pPr>
            <a:lvl6pPr>
              <a:defRPr sz="3300" b="1">
                <a:solidFill>
                  <a:srgbClr val="182738"/>
                </a:solidFill>
                <a:latin typeface="Arial"/>
                <a:ea typeface="Arial"/>
                <a:cs typeface="Arial"/>
              </a:defRPr>
            </a:lvl6pPr>
            <a:lvl7pPr>
              <a:defRPr sz="3300" b="1">
                <a:solidFill>
                  <a:srgbClr val="182738"/>
                </a:solidFill>
                <a:latin typeface="Arial"/>
                <a:ea typeface="Arial"/>
                <a:cs typeface="Arial"/>
              </a:defRPr>
            </a:lvl7pPr>
            <a:lvl8pPr>
              <a:defRPr sz="3300" b="1">
                <a:solidFill>
                  <a:srgbClr val="182738"/>
                </a:solidFill>
                <a:latin typeface="Arial"/>
                <a:ea typeface="Arial"/>
                <a:cs typeface="Arial"/>
              </a:defRPr>
            </a:lvl8pPr>
            <a:lvl9pPr>
              <a:defRPr sz="3300" b="1">
                <a:solidFill>
                  <a:srgbClr val="182738"/>
                </a:solidFill>
                <a:latin typeface="Arial"/>
                <a:ea typeface="Arial"/>
                <a:cs typeface="Arial"/>
              </a:defRPr>
            </a:lvl9pPr>
          </a:lstStyle>
          <a:p xmlns:a="http://schemas.openxmlformats.org/drawingml/2006/main">
            <a:pPr>
              <a:defRPr sz="3300" b="1">
                <a:solidFill>
                  <a:srgbClr val="182738"/>
                </a:solidFill>
                <a:latin typeface="Arial"/>
                <a:ea typeface="Arial"/>
                <a:cs typeface="Arial"/>
              </a:defRPr>
            </a:pPr>
            <a:r>
              <a:rPr sz="3300" b="1">
                <a:solidFill>
                  <a:srgbClr val="182738"/>
                </a:solidFill>
                <a:latin typeface="Arial"/>
                <a:ea typeface="Arial"/>
                <a:cs typeface="Arial"/>
              </a:rPr>
              <a:t>Current investigation workflow</a:t>
            </a:r>
          </a:p>
        </p:txBody>
      </p:sp>
      <p:sp>
        <p:nvSpPr>
          <p:cNvPr id="2" name="">
            <a:extLst xmlns:a="http://schemas.openxmlformats.org/drawingml/2006/main">
              <a:ext uri="{FF2B5EF4-FFF2-40B4-BE49-F238E27FC236}">
                <a16:creationId xmlns:a16="http://schemas.microsoft.com/office/drawing/2014/main" id="{BD4EC3F2-9577-4206-AABF-2384DDA1A9DE}"/>
              </a:ext>
            </a:extLst>
          </p:cNvPr>
          <p:cNvSpPr>
            <a:spLocks xmlns:a="http://schemas.openxmlformats.org/drawingml/2006/main" noGrp="1"/>
          </p:cNvSpPr>
          <p:nvPr/>
        </p:nvSpPr>
        <p:spPr>
          <a:xfrm xmlns:a="http://schemas.openxmlformats.org/drawingml/2006/main">
            <a:off x="685800" y="6343650"/>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0">
                <a:solidFill>
                  <a:srgbClr val="526170"/>
                </a:solidFill>
                <a:latin typeface="Arial"/>
                <a:ea typeface="Arial"/>
                <a:cs typeface="Arial"/>
              </a:defRPr>
            </a:defPPr>
            <a:lvl1pPr>
              <a:defRPr sz="1275" b="0">
                <a:solidFill>
                  <a:srgbClr val="526170"/>
                </a:solidFill>
                <a:latin typeface="Arial"/>
                <a:ea typeface="Arial"/>
                <a:cs typeface="Arial"/>
              </a:defRPr>
            </a:lvl1pPr>
            <a:lvl2pPr>
              <a:defRPr sz="1275" b="0">
                <a:solidFill>
                  <a:srgbClr val="526170"/>
                </a:solidFill>
                <a:latin typeface="Arial"/>
                <a:ea typeface="Arial"/>
                <a:cs typeface="Arial"/>
              </a:defRPr>
            </a:lvl2pPr>
            <a:lvl3pPr>
              <a:defRPr sz="1275" b="0">
                <a:solidFill>
                  <a:srgbClr val="526170"/>
                </a:solidFill>
                <a:latin typeface="Arial"/>
                <a:ea typeface="Arial"/>
                <a:cs typeface="Arial"/>
              </a:defRPr>
            </a:lvl3pPr>
            <a:lvl4pPr>
              <a:defRPr sz="1275" b="0">
                <a:solidFill>
                  <a:srgbClr val="526170"/>
                </a:solidFill>
                <a:latin typeface="Arial"/>
                <a:ea typeface="Arial"/>
                <a:cs typeface="Arial"/>
              </a:defRPr>
            </a:lvl4pPr>
            <a:lvl5pPr>
              <a:defRPr sz="1275" b="0">
                <a:solidFill>
                  <a:srgbClr val="526170"/>
                </a:solidFill>
                <a:latin typeface="Arial"/>
                <a:ea typeface="Arial"/>
                <a:cs typeface="Arial"/>
              </a:defRPr>
            </a:lvl5pPr>
            <a:lvl6pPr>
              <a:defRPr sz="1275" b="0">
                <a:solidFill>
                  <a:srgbClr val="526170"/>
                </a:solidFill>
                <a:latin typeface="Arial"/>
                <a:ea typeface="Arial"/>
                <a:cs typeface="Arial"/>
              </a:defRPr>
            </a:lvl6pPr>
            <a:lvl7pPr>
              <a:defRPr sz="1275" b="0">
                <a:solidFill>
                  <a:srgbClr val="526170"/>
                </a:solidFill>
                <a:latin typeface="Arial"/>
                <a:ea typeface="Arial"/>
                <a:cs typeface="Arial"/>
              </a:defRPr>
            </a:lvl7pPr>
            <a:lvl8pPr>
              <a:defRPr sz="1275" b="0">
                <a:solidFill>
                  <a:srgbClr val="526170"/>
                </a:solidFill>
                <a:latin typeface="Arial"/>
                <a:ea typeface="Arial"/>
                <a:cs typeface="Arial"/>
              </a:defRPr>
            </a:lvl8pPr>
            <a:lvl9pPr>
              <a:defRPr sz="1275" b="0">
                <a:solidFill>
                  <a:srgbClr val="526170"/>
                </a:solidFill>
                <a:latin typeface="Arial"/>
                <a:ea typeface="Arial"/>
                <a:cs typeface="Arial"/>
              </a:defRPr>
            </a:lvl9pPr>
          </a:lstStyle>
          <a:p xmlns:a="http://schemas.openxmlformats.org/drawingml/2006/main">
            <a:pPr>
              <a:defRPr sz="1275" b="0">
                <a:solidFill>
                  <a:srgbClr val="526170"/>
                </a:solidFill>
                <a:latin typeface="Arial"/>
                <a:ea typeface="Arial"/>
                <a:cs typeface="Arial"/>
              </a:defRPr>
            </a:pPr>
            <a:r>
              <a:rPr sz="1275" b="0">
                <a:solidFill>
                  <a:srgbClr val="526170"/>
                </a:solidFill>
                <a:latin typeface="Arial"/>
                <a:ea typeface="Arial"/>
                <a:cs typeface="Arial"/>
              </a:rPr>
              <a:t>INTERNAL REVIEW  •  Complete AI investigation remains unmet  •  2/6</a:t>
            </a:r>
          </a:p>
        </p:txBody>
      </p:sp>
      <p:graphicFrame>
        <p:nvGraphicFramePr>
          <p:cNvPr id="3" name="">
            <a:extLst xmlns:a="http://schemas.openxmlformats.org/drawingml/2006/main">
              <a:ext uri="{FF2B5EF4-FFF2-40B4-BE49-F238E27FC236}">
                <a16:creationId xmlns:a16="http://schemas.microsoft.com/office/drawing/2014/main" id="{3ED9EBF8-394A-4351-AB6D-1AF851BC352C}"/>
              </a:ext>
            </a:extLst>
          </p:cNvPr>
          <p:cNvGraphicFramePr/>
          <p:nvPr/>
        </p:nvGraphicFramePr>
        <p:xfrm>
          <a:off xmlns:a="http://schemas.openxmlformats.org/drawingml/2006/main" x="685800" y="1457325"/>
          <a:ext xmlns:a="http://schemas.openxmlformats.org/drawingml/2006/main" cx="10820400" cy="3333750"/>
        </p:xfrm>
        <a:graphic xmlns:a="http://schemas.openxmlformats.org/drawingml/2006/main">
          <a:graphicData uri="http://schemas.openxmlformats.org/drawingml/2006/table">
            <a:tbl>
              <a:tblPr/>
              <a:tblGrid>
                <a:gridCol w="2428875"/>
                <a:gridCol w="8391525"/>
              </a:tblGrid>
              <a:tr h="666750">
                <a:tc>
                  <a:txBody>
                    <a:bodyPr/>
                    <a:lstStyle/>
                    <a:p>
                      <a:r>
                        <a:rPr sz="1725" b="1">
                          <a:solidFill>
                            <a:srgbClr val="FFFFFF"/>
                          </a:solidFill>
                          <a:latin typeface="Arial"/>
                          <a:ea typeface="Arial"/>
                          <a:cs typeface="Arial"/>
                        </a:rPr>
                        <a:t>Stage</a:t>
                      </a:r>
                    </a:p>
                  </a:txBody>
                  <a:tcPr marL="91440" marR="91440" marT="45720" marB="45720">
                    <a:lnL w="6668">
                      <a:solidFill>
                        <a:srgbClr val="D8D7CF"/>
                      </a:solidFill>
                      <a:prstDash val="solid"/>
                    </a:lnL>
                    <a:lnR w="6668">
                      <a:solidFill>
                        <a:srgbClr val="D8D7CF"/>
                      </a:solidFill>
                      <a:prstDash val="solid"/>
                    </a:lnR>
                    <a:lnT w="6668">
                      <a:solidFill>
                        <a:srgbClr val="D8D7CF"/>
                      </a:solidFill>
                      <a:prstDash val="solid"/>
                    </a:lnT>
                    <a:lnB w="6668">
                      <a:solidFill>
                        <a:srgbClr val="D8D7CF"/>
                      </a:solidFill>
                      <a:prstDash val="solid"/>
                    </a:lnB>
                    <a:solidFill>
                      <a:srgbClr val="122235"/>
                    </a:solidFill>
                  </a:tcPr>
                </a:tc>
                <a:tc>
                  <a:txBody>
                    <a:bodyPr/>
                    <a:lstStyle/>
                    <a:p>
                      <a:r>
                        <a:rPr sz="1725" b="1">
                          <a:solidFill>
                            <a:srgbClr val="FFFFFF"/>
                          </a:solidFill>
                          <a:latin typeface="Arial"/>
                          <a:ea typeface="Arial"/>
                          <a:cs typeface="Arial"/>
                        </a:rPr>
                        <a:t>Working behavior</a:t>
                      </a:r>
                    </a:p>
                  </a:txBody>
                  <a:tcPr marL="91440" marR="91440" marT="45720" marB="45720">
                    <a:lnR w="6668">
                      <a:solidFill>
                        <a:srgbClr val="D8D7CF"/>
                      </a:solidFill>
                      <a:prstDash val="solid"/>
                    </a:lnR>
                    <a:lnT w="6668">
                      <a:solidFill>
                        <a:srgbClr val="D8D7CF"/>
                      </a:solidFill>
                      <a:prstDash val="solid"/>
                    </a:lnT>
                    <a:lnB w="6668">
                      <a:solidFill>
                        <a:srgbClr val="D8D7CF"/>
                      </a:solidFill>
                      <a:prstDash val="solid"/>
                    </a:lnB>
                    <a:solidFill>
                      <a:srgbClr val="122235"/>
                    </a:solidFill>
                  </a:tcPr>
                </a:tc>
              </a:tr>
              <a:tr h="666750">
                <a:tc>
                  <a:txBody>
                    <a:bodyPr/>
                    <a:lstStyle/>
                    <a:p>
                      <a:r>
                        <a:rPr sz="1875" b="0">
                          <a:solidFill>
                            <a:srgbClr val="182738"/>
                          </a:solidFill>
                          <a:latin typeface="Arial"/>
                          <a:ea typeface="Arial"/>
                          <a:cs typeface="Arial"/>
                        </a:rPr>
                        <a:t>Input</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AF8F2"/>
                    </a:solidFill>
                  </a:tcPr>
                </a:tc>
                <a:tc>
                  <a:txBody>
                    <a:bodyPr/>
                    <a:lstStyle/>
                    <a:p>
                      <a:r>
                        <a:rPr sz="1875" b="0">
                          <a:solidFill>
                            <a:srgbClr val="182738"/>
                          </a:solidFill>
                          <a:latin typeface="Arial"/>
                          <a:ea typeface="Arial"/>
                          <a:cs typeface="Arial"/>
                        </a:rPr>
                        <a:t>Company, quarter, cutoff and explicit analyst assertion</a:t>
                      </a:r>
                    </a:p>
                  </a:txBody>
                  <a:tcPr marL="91440" marR="91440" marT="45720" marB="45720">
                    <a:lnR w="6668">
                      <a:solidFill>
                        <a:srgbClr val="D8D7CF"/>
                      </a:solidFill>
                      <a:prstDash val="solid"/>
                    </a:lnR>
                    <a:lnB w="6668">
                      <a:solidFill>
                        <a:srgbClr val="D8D7CF"/>
                      </a:solidFill>
                      <a:prstDash val="solid"/>
                    </a:lnB>
                    <a:solidFill>
                      <a:srgbClr val="FAF8F2"/>
                    </a:solidFill>
                  </a:tcPr>
                </a:tc>
              </a:tr>
              <a:tr h="666750">
                <a:tc>
                  <a:txBody>
                    <a:bodyPr/>
                    <a:lstStyle/>
                    <a:p>
                      <a:r>
                        <a:rPr sz="1875" b="0">
                          <a:solidFill>
                            <a:srgbClr val="182738"/>
                          </a:solidFill>
                          <a:latin typeface="Arial"/>
                          <a:ea typeface="Arial"/>
                          <a:cs typeface="Arial"/>
                        </a:rPr>
                        <a:t>Retrieve</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0EEE7"/>
                    </a:solidFill>
                  </a:tcPr>
                </a:tc>
                <a:tc>
                  <a:txBody>
                    <a:bodyPr/>
                    <a:lstStyle/>
                    <a:p>
                      <a:r>
                        <a:rPr sz="1875" b="0">
                          <a:solidFill>
                            <a:srgbClr val="182738"/>
                          </a:solidFill>
                          <a:latin typeface="Arial"/>
                          <a:ea typeface="Arial"/>
                          <a:cs typeface="Arial"/>
                        </a:rPr>
                        <a:t>Attributed SEC evidence through SEC or existing Zetaris SQL</a:t>
                      </a:r>
                    </a:p>
                  </a:txBody>
                  <a:tcPr marL="91440" marR="91440" marT="45720" marB="45720">
                    <a:lnR w="6668">
                      <a:solidFill>
                        <a:srgbClr val="D8D7CF"/>
                      </a:solidFill>
                      <a:prstDash val="solid"/>
                    </a:lnR>
                    <a:lnB w="6668">
                      <a:solidFill>
                        <a:srgbClr val="D8D7CF"/>
                      </a:solidFill>
                      <a:prstDash val="solid"/>
                    </a:lnB>
                    <a:solidFill>
                      <a:srgbClr val="F0EEE7"/>
                    </a:solidFill>
                  </a:tcPr>
                </a:tc>
              </a:tr>
              <a:tr h="666750">
                <a:tc>
                  <a:txBody>
                    <a:bodyPr/>
                    <a:lstStyle/>
                    <a:p>
                      <a:r>
                        <a:rPr sz="1875" b="0">
                          <a:solidFill>
                            <a:srgbClr val="182738"/>
                          </a:solidFill>
                          <a:latin typeface="Arial"/>
                          <a:ea typeface="Arial"/>
                          <a:cs typeface="Arial"/>
                        </a:rPr>
                        <a:t>Check and challenge</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AF8F2"/>
                    </a:solidFill>
                  </a:tcPr>
                </a:tc>
                <a:tc>
                  <a:txBody>
                    <a:bodyPr/>
                    <a:lstStyle/>
                    <a:p>
                      <a:r>
                        <a:rPr sz="1875" b="0">
                          <a:solidFill>
                            <a:srgbClr val="182738"/>
                          </a:solidFill>
                          <a:latin typeface="Arial"/>
                          <a:ea typeface="Arial"/>
                          <a:cs typeface="Arial"/>
                        </a:rPr>
                        <a:t>Deterministic figures, units, periods, basis and bounded recheck</a:t>
                      </a:r>
                    </a:p>
                  </a:txBody>
                  <a:tcPr marL="91440" marR="91440" marT="45720" marB="45720">
                    <a:lnR w="6668">
                      <a:solidFill>
                        <a:srgbClr val="D8D7CF"/>
                      </a:solidFill>
                      <a:prstDash val="solid"/>
                    </a:lnR>
                    <a:lnB w="6668">
                      <a:solidFill>
                        <a:srgbClr val="D8D7CF"/>
                      </a:solidFill>
                      <a:prstDash val="solid"/>
                    </a:lnB>
                    <a:solidFill>
                      <a:srgbClr val="FAF8F2"/>
                    </a:solidFill>
                  </a:tcPr>
                </a:tc>
              </a:tr>
              <a:tr h="666750">
                <a:tc>
                  <a:txBody>
                    <a:bodyPr/>
                    <a:lstStyle/>
                    <a:p>
                      <a:r>
                        <a:rPr sz="1875" b="0">
                          <a:solidFill>
                            <a:srgbClr val="182738"/>
                          </a:solidFill>
                          <a:latin typeface="Arial"/>
                          <a:ea typeface="Arial"/>
                          <a:cs typeface="Arial"/>
                        </a:rPr>
                        <a:t>Human review</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0EEE7"/>
                    </a:solidFill>
                  </a:tcPr>
                </a:tc>
                <a:tc>
                  <a:txBody>
                    <a:bodyPr/>
                    <a:lstStyle/>
                    <a:p>
                      <a:r>
                        <a:rPr sz="1875" b="0">
                          <a:solidFill>
                            <a:srgbClr val="182738"/>
                          </a:solidFill>
                          <a:latin typeface="Arial"/>
                          <a:ea typeface="Arial"/>
                          <a:cs typeface="Arial"/>
                        </a:rPr>
                        <a:t>Immutable report, digest/revision protection and persistent decision</a:t>
                      </a:r>
                    </a:p>
                  </a:txBody>
                  <a:tcPr marL="91440" marR="91440" marT="45720" marB="45720">
                    <a:lnR w="6668">
                      <a:solidFill>
                        <a:srgbClr val="D8D7CF"/>
                      </a:solidFill>
                      <a:prstDash val="solid"/>
                    </a:lnR>
                    <a:lnB w="6668">
                      <a:solidFill>
                        <a:srgbClr val="D8D7CF"/>
                      </a:solidFill>
                      <a:prstDash val="solid"/>
                    </a:lnB>
                    <a:solidFill>
                      <a:srgbClr val="F0EEE7"/>
                    </a:solidFill>
                  </a:tcPr>
                </a:tc>
              </a:tr>
            </a:tbl>
          </a:graphicData>
        </a:graphic>
      </p:graphicFrame>
      <p:sp>
        <p:nvSpPr>
          <p:cNvPr id="4" name="">
            <a:extLst xmlns:a="http://schemas.openxmlformats.org/drawingml/2006/main">
              <a:ext uri="{FF2B5EF4-FFF2-40B4-BE49-F238E27FC236}">
                <a16:creationId xmlns:a16="http://schemas.microsoft.com/office/drawing/2014/main" id="{46E42CCD-9684-43C3-AD70-158BD38B4397}"/>
              </a:ext>
            </a:extLst>
          </p:cNvPr>
          <p:cNvSpPr>
            <a:spLocks xmlns:a="http://schemas.openxmlformats.org/drawingml/2006/main" noGrp="1"/>
          </p:cNvSpPr>
          <p:nvPr/>
        </p:nvSpPr>
        <p:spPr>
          <a:xfrm xmlns:a="http://schemas.openxmlformats.org/drawingml/2006/main">
            <a:off x="685800" y="5219700"/>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9A352C"/>
                </a:solidFill>
                <a:latin typeface="Arial"/>
                <a:ea typeface="Arial"/>
                <a:cs typeface="Arial"/>
              </a:defRPr>
            </a:defPPr>
            <a:lvl1pPr>
              <a:defRPr sz="1950" b="0">
                <a:solidFill>
                  <a:srgbClr val="9A352C"/>
                </a:solidFill>
                <a:latin typeface="Arial"/>
                <a:ea typeface="Arial"/>
                <a:cs typeface="Arial"/>
              </a:defRPr>
            </a:lvl1pPr>
            <a:lvl2pPr>
              <a:defRPr sz="1950" b="0">
                <a:solidFill>
                  <a:srgbClr val="9A352C"/>
                </a:solidFill>
                <a:latin typeface="Arial"/>
                <a:ea typeface="Arial"/>
                <a:cs typeface="Arial"/>
              </a:defRPr>
            </a:lvl2pPr>
            <a:lvl3pPr>
              <a:defRPr sz="1950" b="0">
                <a:solidFill>
                  <a:srgbClr val="9A352C"/>
                </a:solidFill>
                <a:latin typeface="Arial"/>
                <a:ea typeface="Arial"/>
                <a:cs typeface="Arial"/>
              </a:defRPr>
            </a:lvl3pPr>
            <a:lvl4pPr>
              <a:defRPr sz="1950" b="0">
                <a:solidFill>
                  <a:srgbClr val="9A352C"/>
                </a:solidFill>
                <a:latin typeface="Arial"/>
                <a:ea typeface="Arial"/>
                <a:cs typeface="Arial"/>
              </a:defRPr>
            </a:lvl4pPr>
            <a:lvl5pPr>
              <a:defRPr sz="1950" b="0">
                <a:solidFill>
                  <a:srgbClr val="9A352C"/>
                </a:solidFill>
                <a:latin typeface="Arial"/>
                <a:ea typeface="Arial"/>
                <a:cs typeface="Arial"/>
              </a:defRPr>
            </a:lvl5pPr>
            <a:lvl6pPr>
              <a:defRPr sz="1950" b="0">
                <a:solidFill>
                  <a:srgbClr val="9A352C"/>
                </a:solidFill>
                <a:latin typeface="Arial"/>
                <a:ea typeface="Arial"/>
                <a:cs typeface="Arial"/>
              </a:defRPr>
            </a:lvl6pPr>
            <a:lvl7pPr>
              <a:defRPr sz="1950" b="0">
                <a:solidFill>
                  <a:srgbClr val="9A352C"/>
                </a:solidFill>
                <a:latin typeface="Arial"/>
                <a:ea typeface="Arial"/>
                <a:cs typeface="Arial"/>
              </a:defRPr>
            </a:lvl7pPr>
            <a:lvl8pPr>
              <a:defRPr sz="1950" b="0">
                <a:solidFill>
                  <a:srgbClr val="9A352C"/>
                </a:solidFill>
                <a:latin typeface="Arial"/>
                <a:ea typeface="Arial"/>
                <a:cs typeface="Arial"/>
              </a:defRPr>
            </a:lvl8pPr>
            <a:lvl9pPr>
              <a:defRPr sz="1950" b="0">
                <a:solidFill>
                  <a:srgbClr val="9A352C"/>
                </a:solidFill>
                <a:latin typeface="Arial"/>
                <a:ea typeface="Arial"/>
                <a:cs typeface="Arial"/>
              </a:defRPr>
            </a:lvl9pPr>
          </a:lstStyle>
          <a:p xmlns:a="http://schemas.openxmlformats.org/drawingml/2006/main">
            <a:pPr>
              <a:defRPr sz="1950" b="0">
                <a:solidFill>
                  <a:srgbClr val="9A352C"/>
                </a:solidFill>
                <a:latin typeface="Arial"/>
                <a:ea typeface="Arial"/>
                <a:cs typeface="Arial"/>
              </a:defRPr>
            </a:pPr>
            <a:r>
              <a:rPr sz="1950" b="0">
                <a:solidFill>
                  <a:srgbClr val="9A352C"/>
                </a:solidFill>
                <a:latin typeface="Arial"/>
                <a:ea typeface="Arial"/>
                <a:cs typeface="Arial"/>
              </a:rPr>
              <a:t>NVIDIA native proposals ran separately. No accepted completed model briefing is claimed.</a:t>
            </a:r>
          </a:p>
        </p:txBody>
      </p:sp>
    </p:spTree>
    <p:extLst>
      <p:ext uri="{BB962C8B-B14F-4D97-AF65-F5344CB8AC3E}">
        <p14:creationId xmlns:p14="http://schemas.microsoft.com/office/powerpoint/2010/main" val="414369282"/>
      </p:ext>
    </p:extLst>
  </p:cSld>
</p:sld>
</file>

<file path=ppt/slides/slide3.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93670A0-6B30-4329-A967-1EE9E77AF69A}"/>
              </a:ext>
            </a:extLst>
          </p:cNvPr>
          <p:cNvSpPr>
            <a:spLocks xmlns:a="http://schemas.openxmlformats.org/drawingml/2006/main" noGrp="1"/>
          </p:cNvSpPr>
          <p:nvPr/>
        </p:nvSpPr>
        <p:spPr>
          <a:xfrm xmlns:a="http://schemas.openxmlformats.org/drawingml/2006/main">
            <a:off x="685800" y="4762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82738"/>
                </a:solidFill>
                <a:latin typeface="Arial"/>
                <a:ea typeface="Arial"/>
                <a:cs typeface="Arial"/>
              </a:defRPr>
            </a:defPPr>
            <a:lvl1pPr>
              <a:defRPr sz="3300" b="1">
                <a:solidFill>
                  <a:srgbClr val="182738"/>
                </a:solidFill>
                <a:latin typeface="Arial"/>
                <a:ea typeface="Arial"/>
                <a:cs typeface="Arial"/>
              </a:defRPr>
            </a:lvl1pPr>
            <a:lvl2pPr>
              <a:defRPr sz="3300" b="1">
                <a:solidFill>
                  <a:srgbClr val="182738"/>
                </a:solidFill>
                <a:latin typeface="Arial"/>
                <a:ea typeface="Arial"/>
                <a:cs typeface="Arial"/>
              </a:defRPr>
            </a:lvl2pPr>
            <a:lvl3pPr>
              <a:defRPr sz="3300" b="1">
                <a:solidFill>
                  <a:srgbClr val="182738"/>
                </a:solidFill>
                <a:latin typeface="Arial"/>
                <a:ea typeface="Arial"/>
                <a:cs typeface="Arial"/>
              </a:defRPr>
            </a:lvl3pPr>
            <a:lvl4pPr>
              <a:defRPr sz="3300" b="1">
                <a:solidFill>
                  <a:srgbClr val="182738"/>
                </a:solidFill>
                <a:latin typeface="Arial"/>
                <a:ea typeface="Arial"/>
                <a:cs typeface="Arial"/>
              </a:defRPr>
            </a:lvl4pPr>
            <a:lvl5pPr>
              <a:defRPr sz="3300" b="1">
                <a:solidFill>
                  <a:srgbClr val="182738"/>
                </a:solidFill>
                <a:latin typeface="Arial"/>
                <a:ea typeface="Arial"/>
                <a:cs typeface="Arial"/>
              </a:defRPr>
            </a:lvl5pPr>
            <a:lvl6pPr>
              <a:defRPr sz="3300" b="1">
                <a:solidFill>
                  <a:srgbClr val="182738"/>
                </a:solidFill>
                <a:latin typeface="Arial"/>
                <a:ea typeface="Arial"/>
                <a:cs typeface="Arial"/>
              </a:defRPr>
            </a:lvl6pPr>
            <a:lvl7pPr>
              <a:defRPr sz="3300" b="1">
                <a:solidFill>
                  <a:srgbClr val="182738"/>
                </a:solidFill>
                <a:latin typeface="Arial"/>
                <a:ea typeface="Arial"/>
                <a:cs typeface="Arial"/>
              </a:defRPr>
            </a:lvl7pPr>
            <a:lvl8pPr>
              <a:defRPr sz="3300" b="1">
                <a:solidFill>
                  <a:srgbClr val="182738"/>
                </a:solidFill>
                <a:latin typeface="Arial"/>
                <a:ea typeface="Arial"/>
                <a:cs typeface="Arial"/>
              </a:defRPr>
            </a:lvl8pPr>
            <a:lvl9pPr>
              <a:defRPr sz="3300" b="1">
                <a:solidFill>
                  <a:srgbClr val="182738"/>
                </a:solidFill>
                <a:latin typeface="Arial"/>
                <a:ea typeface="Arial"/>
                <a:cs typeface="Arial"/>
              </a:defRPr>
            </a:lvl9pPr>
          </a:lstStyle>
          <a:p xmlns:a="http://schemas.openxmlformats.org/drawingml/2006/main">
            <a:pPr>
              <a:defRPr sz="3300" b="1">
                <a:solidFill>
                  <a:srgbClr val="182738"/>
                </a:solidFill>
                <a:latin typeface="Arial"/>
                <a:ea typeface="Arial"/>
                <a:cs typeface="Arial"/>
              </a:defRPr>
            </a:pPr>
            <a:r>
              <a:rPr sz="3300" b="1">
                <a:solidFill>
                  <a:srgbClr val="182738"/>
                </a:solidFill>
                <a:latin typeface="Arial"/>
                <a:ea typeface="Arial"/>
                <a:cs typeface="Arial"/>
              </a:rPr>
              <a:t>Three observed financial cases</a:t>
            </a:r>
          </a:p>
        </p:txBody>
      </p:sp>
      <p:sp>
        <p:nvSpPr>
          <p:cNvPr id="2" name="">
            <a:extLst xmlns:a="http://schemas.openxmlformats.org/drawingml/2006/main">
              <a:ext uri="{FF2B5EF4-FFF2-40B4-BE49-F238E27FC236}">
                <a16:creationId xmlns:a16="http://schemas.microsoft.com/office/drawing/2014/main" id="{8A37E54E-3A2A-4E04-90D8-454C141CF75C}"/>
              </a:ext>
            </a:extLst>
          </p:cNvPr>
          <p:cNvSpPr>
            <a:spLocks xmlns:a="http://schemas.openxmlformats.org/drawingml/2006/main" noGrp="1"/>
          </p:cNvSpPr>
          <p:nvPr/>
        </p:nvSpPr>
        <p:spPr>
          <a:xfrm xmlns:a="http://schemas.openxmlformats.org/drawingml/2006/main">
            <a:off x="685800" y="6343650"/>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0">
                <a:solidFill>
                  <a:srgbClr val="526170"/>
                </a:solidFill>
                <a:latin typeface="Arial"/>
                <a:ea typeface="Arial"/>
                <a:cs typeface="Arial"/>
              </a:defRPr>
            </a:defPPr>
            <a:lvl1pPr>
              <a:defRPr sz="1275" b="0">
                <a:solidFill>
                  <a:srgbClr val="526170"/>
                </a:solidFill>
                <a:latin typeface="Arial"/>
                <a:ea typeface="Arial"/>
                <a:cs typeface="Arial"/>
              </a:defRPr>
            </a:lvl1pPr>
            <a:lvl2pPr>
              <a:defRPr sz="1275" b="0">
                <a:solidFill>
                  <a:srgbClr val="526170"/>
                </a:solidFill>
                <a:latin typeface="Arial"/>
                <a:ea typeface="Arial"/>
                <a:cs typeface="Arial"/>
              </a:defRPr>
            </a:lvl2pPr>
            <a:lvl3pPr>
              <a:defRPr sz="1275" b="0">
                <a:solidFill>
                  <a:srgbClr val="526170"/>
                </a:solidFill>
                <a:latin typeface="Arial"/>
                <a:ea typeface="Arial"/>
                <a:cs typeface="Arial"/>
              </a:defRPr>
            </a:lvl3pPr>
            <a:lvl4pPr>
              <a:defRPr sz="1275" b="0">
                <a:solidFill>
                  <a:srgbClr val="526170"/>
                </a:solidFill>
                <a:latin typeface="Arial"/>
                <a:ea typeface="Arial"/>
                <a:cs typeface="Arial"/>
              </a:defRPr>
            </a:lvl4pPr>
            <a:lvl5pPr>
              <a:defRPr sz="1275" b="0">
                <a:solidFill>
                  <a:srgbClr val="526170"/>
                </a:solidFill>
                <a:latin typeface="Arial"/>
                <a:ea typeface="Arial"/>
                <a:cs typeface="Arial"/>
              </a:defRPr>
            </a:lvl5pPr>
            <a:lvl6pPr>
              <a:defRPr sz="1275" b="0">
                <a:solidFill>
                  <a:srgbClr val="526170"/>
                </a:solidFill>
                <a:latin typeface="Arial"/>
                <a:ea typeface="Arial"/>
                <a:cs typeface="Arial"/>
              </a:defRPr>
            </a:lvl6pPr>
            <a:lvl7pPr>
              <a:defRPr sz="1275" b="0">
                <a:solidFill>
                  <a:srgbClr val="526170"/>
                </a:solidFill>
                <a:latin typeface="Arial"/>
                <a:ea typeface="Arial"/>
                <a:cs typeface="Arial"/>
              </a:defRPr>
            </a:lvl7pPr>
            <a:lvl8pPr>
              <a:defRPr sz="1275" b="0">
                <a:solidFill>
                  <a:srgbClr val="526170"/>
                </a:solidFill>
                <a:latin typeface="Arial"/>
                <a:ea typeface="Arial"/>
                <a:cs typeface="Arial"/>
              </a:defRPr>
            </a:lvl8pPr>
            <a:lvl9pPr>
              <a:defRPr sz="1275" b="0">
                <a:solidFill>
                  <a:srgbClr val="526170"/>
                </a:solidFill>
                <a:latin typeface="Arial"/>
                <a:ea typeface="Arial"/>
                <a:cs typeface="Arial"/>
              </a:defRPr>
            </a:lvl9pPr>
          </a:lstStyle>
          <a:p xmlns:a="http://schemas.openxmlformats.org/drawingml/2006/main">
            <a:pPr>
              <a:defRPr sz="1275" b="0">
                <a:solidFill>
                  <a:srgbClr val="526170"/>
                </a:solidFill>
                <a:latin typeface="Arial"/>
                <a:ea typeface="Arial"/>
                <a:cs typeface="Arial"/>
              </a:defRPr>
            </a:pPr>
            <a:r>
              <a:rPr sz="1275" b="0">
                <a:solidFill>
                  <a:srgbClr val="526170"/>
                </a:solidFill>
                <a:latin typeface="Arial"/>
                <a:ea typeface="Arial"/>
                <a:cs typeface="Arial"/>
              </a:rPr>
              <a:t>INTERNAL REVIEW  •  Complete AI investigation remains unmet  •  3/6</a:t>
            </a:r>
          </a:p>
        </p:txBody>
      </p:sp>
      <p:graphicFrame>
        <p:nvGraphicFramePr>
          <p:cNvPr id="3" name="">
            <a:extLst xmlns:a="http://schemas.openxmlformats.org/drawingml/2006/main">
              <a:ext uri="{FF2B5EF4-FFF2-40B4-BE49-F238E27FC236}">
                <a16:creationId xmlns:a16="http://schemas.microsoft.com/office/drawing/2014/main" id="{FAB80E69-E45C-4A99-A251-C21FEA7AD691}"/>
              </a:ext>
            </a:extLst>
          </p:cNvPr>
          <p:cNvGraphicFramePr/>
          <p:nvPr/>
        </p:nvGraphicFramePr>
        <p:xfrm>
          <a:off xmlns:a="http://schemas.openxmlformats.org/drawingml/2006/main" x="685800" y="1457325"/>
          <a:ext xmlns:a="http://schemas.openxmlformats.org/drawingml/2006/main" cx="10820400" cy="3238500"/>
        </p:xfrm>
        <a:graphic xmlns:a="http://schemas.openxmlformats.org/drawingml/2006/main">
          <a:graphicData uri="http://schemas.openxmlformats.org/drawingml/2006/table">
            <a:tbl>
              <a:tblPr/>
              <a:tblGrid>
                <a:gridCol w="4095750"/>
                <a:gridCol w="2762250"/>
                <a:gridCol w="3962400"/>
              </a:tblGrid>
              <a:tr h="809625">
                <a:tc>
                  <a:txBody>
                    <a:bodyPr/>
                    <a:lstStyle/>
                    <a:p>
                      <a:r>
                        <a:rPr sz="1725" b="1">
                          <a:solidFill>
                            <a:srgbClr val="FFFFFF"/>
                          </a:solidFill>
                          <a:latin typeface="Arial"/>
                          <a:ea typeface="Arial"/>
                          <a:cs typeface="Arial"/>
                        </a:rPr>
                        <a:t>Analyst test input</a:t>
                      </a:r>
                    </a:p>
                  </a:txBody>
                  <a:tcPr marL="91440" marR="91440" marT="45720" marB="45720">
                    <a:lnL w="6668">
                      <a:solidFill>
                        <a:srgbClr val="D8D7CF"/>
                      </a:solidFill>
                      <a:prstDash val="solid"/>
                    </a:lnL>
                    <a:lnR w="6668">
                      <a:solidFill>
                        <a:srgbClr val="D8D7CF"/>
                      </a:solidFill>
                      <a:prstDash val="solid"/>
                    </a:lnR>
                    <a:lnT w="6668">
                      <a:solidFill>
                        <a:srgbClr val="D8D7CF"/>
                      </a:solidFill>
                      <a:prstDash val="solid"/>
                    </a:lnT>
                    <a:lnB w="6668">
                      <a:solidFill>
                        <a:srgbClr val="D8D7CF"/>
                      </a:solidFill>
                      <a:prstDash val="solid"/>
                    </a:lnB>
                    <a:solidFill>
                      <a:srgbClr val="122235"/>
                    </a:solidFill>
                  </a:tcPr>
                </a:tc>
                <a:tc>
                  <a:txBody>
                    <a:bodyPr/>
                    <a:lstStyle/>
                    <a:p>
                      <a:r>
                        <a:rPr sz="1725" b="1">
                          <a:solidFill>
                            <a:srgbClr val="FFFFFF"/>
                          </a:solidFill>
                          <a:latin typeface="Arial"/>
                          <a:ea typeface="Arial"/>
                          <a:cs typeface="Arial"/>
                        </a:rPr>
                        <a:t>Actual result</a:t>
                      </a:r>
                    </a:p>
                  </a:txBody>
                  <a:tcPr marL="91440" marR="91440" marT="45720" marB="45720">
                    <a:lnR w="6668">
                      <a:solidFill>
                        <a:srgbClr val="D8D7CF"/>
                      </a:solidFill>
                      <a:prstDash val="solid"/>
                    </a:lnR>
                    <a:lnT w="6668">
                      <a:solidFill>
                        <a:srgbClr val="D8D7CF"/>
                      </a:solidFill>
                      <a:prstDash val="solid"/>
                    </a:lnT>
                    <a:lnB w="6668">
                      <a:solidFill>
                        <a:srgbClr val="D8D7CF"/>
                      </a:solidFill>
                      <a:prstDash val="solid"/>
                    </a:lnB>
                    <a:solidFill>
                      <a:srgbClr val="122235"/>
                    </a:solidFill>
                  </a:tcPr>
                </a:tc>
                <a:tc>
                  <a:txBody>
                    <a:bodyPr/>
                    <a:lstStyle/>
                    <a:p>
                      <a:r>
                        <a:rPr sz="1725" b="1">
                          <a:solidFill>
                            <a:srgbClr val="FFFFFF"/>
                          </a:solidFill>
                          <a:latin typeface="Arial"/>
                          <a:ea typeface="Arial"/>
                          <a:cs typeface="Arial"/>
                        </a:rPr>
                        <a:t>Review meaning</a:t>
                      </a:r>
                    </a:p>
                  </a:txBody>
                  <a:tcPr marL="91440" marR="91440" marT="45720" marB="45720">
                    <a:lnR w="6668">
                      <a:solidFill>
                        <a:srgbClr val="D8D7CF"/>
                      </a:solidFill>
                      <a:prstDash val="solid"/>
                    </a:lnR>
                    <a:lnT w="6668">
                      <a:solidFill>
                        <a:srgbClr val="D8D7CF"/>
                      </a:solidFill>
                      <a:prstDash val="solid"/>
                    </a:lnT>
                    <a:lnB w="6668">
                      <a:solidFill>
                        <a:srgbClr val="D8D7CF"/>
                      </a:solidFill>
                      <a:prstDash val="solid"/>
                    </a:lnB>
                    <a:solidFill>
                      <a:srgbClr val="122235"/>
                    </a:solidFill>
                  </a:tcPr>
                </a:tc>
              </a:tr>
              <a:tr h="809625">
                <a:tc>
                  <a:txBody>
                    <a:bodyPr/>
                    <a:lstStyle/>
                    <a:p>
                      <a:r>
                        <a:rPr sz="1800" b="0">
                          <a:solidFill>
                            <a:srgbClr val="182738"/>
                          </a:solidFill>
                          <a:latin typeface="Arial"/>
                          <a:ea typeface="Arial"/>
                          <a:cs typeface="Arial"/>
                        </a:rPr>
                        <a:t>ISRG Q2 2026 EPS 2.29 USD/shares</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AF8F2"/>
                    </a:solidFill>
                  </a:tcPr>
                </a:tc>
                <a:tc>
                  <a:txBody>
                    <a:bodyPr/>
                    <a:lstStyle/>
                    <a:p>
                      <a:r>
                        <a:rPr sz="1800" b="0">
                          <a:solidFill>
                            <a:srgbClr val="182738"/>
                          </a:solidFill>
                          <a:latin typeface="Arial"/>
                          <a:ea typeface="Arial"/>
                          <a:cs typeface="Arial"/>
                        </a:rPr>
                        <a:t>Supported</a:t>
                      </a:r>
                    </a:p>
                  </a:txBody>
                  <a:tcPr marL="91440" marR="91440" marT="45720" marB="45720">
                    <a:lnR w="6668">
                      <a:solidFill>
                        <a:srgbClr val="D8D7CF"/>
                      </a:solidFill>
                      <a:prstDash val="solid"/>
                    </a:lnR>
                    <a:lnB w="6668">
                      <a:solidFill>
                        <a:srgbClr val="D8D7CF"/>
                      </a:solidFill>
                      <a:prstDash val="solid"/>
                    </a:lnB>
                    <a:solidFill>
                      <a:srgbClr val="FAF8F2"/>
                    </a:solidFill>
                  </a:tcPr>
                </a:tc>
                <a:tc>
                  <a:txBody>
                    <a:bodyPr/>
                    <a:lstStyle/>
                    <a:p>
                      <a:r>
                        <a:rPr sz="1800" b="0">
                          <a:solidFill>
                            <a:srgbClr val="182738"/>
                          </a:solidFill>
                          <a:latin typeface="Arial"/>
                          <a:ea typeface="Arial"/>
                          <a:cs typeface="Arial"/>
                        </a:rPr>
                        <a:t>Comparable quarter evidence agrees</a:t>
                      </a:r>
                    </a:p>
                  </a:txBody>
                  <a:tcPr marL="91440" marR="91440" marT="45720" marB="45720">
                    <a:lnR w="6668">
                      <a:solidFill>
                        <a:srgbClr val="D8D7CF"/>
                      </a:solidFill>
                      <a:prstDash val="solid"/>
                    </a:lnR>
                    <a:lnB w="6668">
                      <a:solidFill>
                        <a:srgbClr val="D8D7CF"/>
                      </a:solidFill>
                      <a:prstDash val="solid"/>
                    </a:lnB>
                    <a:solidFill>
                      <a:srgbClr val="FAF8F2"/>
                    </a:solidFill>
                  </a:tcPr>
                </a:tc>
              </a:tr>
              <a:tr h="809625">
                <a:tc>
                  <a:txBody>
                    <a:bodyPr/>
                    <a:lstStyle/>
                    <a:p>
                      <a:r>
                        <a:rPr sz="1800" b="0">
                          <a:solidFill>
                            <a:srgbClr val="182738"/>
                          </a:solidFill>
                          <a:latin typeface="Arial"/>
                          <a:ea typeface="Arial"/>
                          <a:cs typeface="Arial"/>
                        </a:rPr>
                        <a:t>Same quarter EPS 9.99 USD/shares</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0EEE7"/>
                    </a:solidFill>
                  </a:tcPr>
                </a:tc>
                <a:tc>
                  <a:txBody>
                    <a:bodyPr/>
                    <a:lstStyle/>
                    <a:p>
                      <a:r>
                        <a:rPr sz="1800" b="0">
                          <a:solidFill>
                            <a:srgbClr val="182738"/>
                          </a:solidFill>
                          <a:latin typeface="Arial"/>
                          <a:ea typeface="Arial"/>
                          <a:cs typeface="Arial"/>
                        </a:rPr>
                        <a:t>Contradicted</a:t>
                      </a:r>
                    </a:p>
                  </a:txBody>
                  <a:tcPr marL="91440" marR="91440" marT="45720" marB="45720">
                    <a:lnR w="6668">
                      <a:solidFill>
                        <a:srgbClr val="D8D7CF"/>
                      </a:solidFill>
                      <a:prstDash val="solid"/>
                    </a:lnR>
                    <a:lnB w="6668">
                      <a:solidFill>
                        <a:srgbClr val="D8D7CF"/>
                      </a:solidFill>
                      <a:prstDash val="solid"/>
                    </a:lnB>
                    <a:solidFill>
                      <a:srgbClr val="F0EEE7"/>
                    </a:solidFill>
                  </a:tcPr>
                </a:tc>
                <a:tc>
                  <a:txBody>
                    <a:bodyPr/>
                    <a:lstStyle/>
                    <a:p>
                      <a:r>
                        <a:rPr sz="1800" b="0">
                          <a:solidFill>
                            <a:srgbClr val="182738"/>
                          </a:solidFill>
                          <a:latin typeface="Arial"/>
                          <a:ea typeface="Arial"/>
                          <a:cs typeface="Arial"/>
                        </a:rPr>
                        <a:t>Actual EPS 2.29; difference −7.70</a:t>
                      </a:r>
                    </a:p>
                  </a:txBody>
                  <a:tcPr marL="91440" marR="91440" marT="45720" marB="45720">
                    <a:lnR w="6668">
                      <a:solidFill>
                        <a:srgbClr val="D8D7CF"/>
                      </a:solidFill>
                      <a:prstDash val="solid"/>
                    </a:lnR>
                    <a:lnB w="6668">
                      <a:solidFill>
                        <a:srgbClr val="D8D7CF"/>
                      </a:solidFill>
                      <a:prstDash val="solid"/>
                    </a:lnB>
                    <a:solidFill>
                      <a:srgbClr val="F0EEE7"/>
                    </a:solidFill>
                  </a:tcPr>
                </a:tc>
              </a:tr>
              <a:tr h="809625">
                <a:tc>
                  <a:txBody>
                    <a:bodyPr/>
                    <a:lstStyle/>
                    <a:p>
                      <a:r>
                        <a:rPr sz="1800" b="0">
                          <a:solidFill>
                            <a:srgbClr val="182738"/>
                          </a:solidFill>
                          <a:latin typeface="Arial"/>
                          <a:ea typeface="Arial"/>
                          <a:cs typeface="Arial"/>
                        </a:rPr>
                        <a:t>Cutoff July 20, 2026</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AF8F2"/>
                    </a:solidFill>
                  </a:tcPr>
                </a:tc>
                <a:tc>
                  <a:txBody>
                    <a:bodyPr/>
                    <a:lstStyle/>
                    <a:p>
                      <a:r>
                        <a:rPr sz="1800" b="0">
                          <a:solidFill>
                            <a:srgbClr val="182738"/>
                          </a:solidFill>
                          <a:latin typeface="Arial"/>
                          <a:ea typeface="Arial"/>
                          <a:cs typeface="Arial"/>
                        </a:rPr>
                        <a:t>No eligible filing evidence</a:t>
                      </a:r>
                    </a:p>
                  </a:txBody>
                  <a:tcPr marL="91440" marR="91440" marT="45720" marB="45720">
                    <a:lnR w="6668">
                      <a:solidFill>
                        <a:srgbClr val="D8D7CF"/>
                      </a:solidFill>
                      <a:prstDash val="solid"/>
                    </a:lnR>
                    <a:lnB w="6668">
                      <a:solidFill>
                        <a:srgbClr val="D8D7CF"/>
                      </a:solidFill>
                      <a:prstDash val="solid"/>
                    </a:lnB>
                    <a:solidFill>
                      <a:srgbClr val="FAF8F2"/>
                    </a:solidFill>
                  </a:tcPr>
                </a:tc>
                <a:tc>
                  <a:txBody>
                    <a:bodyPr/>
                    <a:lstStyle/>
                    <a:p>
                      <a:r>
                        <a:rPr sz="1800" b="0">
                          <a:solidFill>
                            <a:srgbClr val="182738"/>
                          </a:solidFill>
                          <a:latin typeface="Arial"/>
                          <a:ea typeface="Arial"/>
                          <a:cs typeface="Arial"/>
                        </a:rPr>
                        <a:t>Insufficient evidence before July 21 filing</a:t>
                      </a:r>
                    </a:p>
                  </a:txBody>
                  <a:tcPr marL="91440" marR="91440" marT="45720" marB="45720">
                    <a:lnR w="6668">
                      <a:solidFill>
                        <a:srgbClr val="D8D7CF"/>
                      </a:solidFill>
                      <a:prstDash val="solid"/>
                    </a:lnR>
                    <a:lnB w="6668">
                      <a:solidFill>
                        <a:srgbClr val="D8D7CF"/>
                      </a:solidFill>
                      <a:prstDash val="solid"/>
                    </a:lnB>
                    <a:solidFill>
                      <a:srgbClr val="FAF8F2"/>
                    </a:solidFill>
                  </a:tcPr>
                </a:tc>
              </a:tr>
            </a:tbl>
          </a:graphicData>
        </a:graphic>
      </p:graphicFrame>
      <p:sp>
        <p:nvSpPr>
          <p:cNvPr id="4" name="">
            <a:extLst xmlns:a="http://schemas.openxmlformats.org/drawingml/2006/main">
              <a:ext uri="{FF2B5EF4-FFF2-40B4-BE49-F238E27FC236}">
                <a16:creationId xmlns:a16="http://schemas.microsoft.com/office/drawing/2014/main" id="{061B9D7A-9DF7-4332-BA10-95C3A880D940}"/>
              </a:ext>
            </a:extLst>
          </p:cNvPr>
          <p:cNvSpPr>
            <a:spLocks xmlns:a="http://schemas.openxmlformats.org/drawingml/2006/main" noGrp="1"/>
          </p:cNvSpPr>
          <p:nvPr/>
        </p:nvSpPr>
        <p:spPr>
          <a:xfrm xmlns:a="http://schemas.openxmlformats.org/drawingml/2006/main">
            <a:off x="685800" y="5057775"/>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170"/>
                </a:solidFill>
                <a:latin typeface="Arial"/>
                <a:ea typeface="Arial"/>
                <a:cs typeface="Arial"/>
              </a:defRPr>
            </a:defPPr>
            <a:lvl1pPr>
              <a:defRPr sz="1800" b="0">
                <a:solidFill>
                  <a:srgbClr val="526170"/>
                </a:solidFill>
                <a:latin typeface="Arial"/>
                <a:ea typeface="Arial"/>
                <a:cs typeface="Arial"/>
              </a:defRPr>
            </a:lvl1pPr>
            <a:lvl2pPr>
              <a:defRPr sz="1800" b="0">
                <a:solidFill>
                  <a:srgbClr val="526170"/>
                </a:solidFill>
                <a:latin typeface="Arial"/>
                <a:ea typeface="Arial"/>
                <a:cs typeface="Arial"/>
              </a:defRPr>
            </a:lvl2pPr>
            <a:lvl3pPr>
              <a:defRPr sz="1800" b="0">
                <a:solidFill>
                  <a:srgbClr val="526170"/>
                </a:solidFill>
                <a:latin typeface="Arial"/>
                <a:ea typeface="Arial"/>
                <a:cs typeface="Arial"/>
              </a:defRPr>
            </a:lvl3pPr>
            <a:lvl4pPr>
              <a:defRPr sz="1800" b="0">
                <a:solidFill>
                  <a:srgbClr val="526170"/>
                </a:solidFill>
                <a:latin typeface="Arial"/>
                <a:ea typeface="Arial"/>
                <a:cs typeface="Arial"/>
              </a:defRPr>
            </a:lvl4pPr>
            <a:lvl5pPr>
              <a:defRPr sz="1800" b="0">
                <a:solidFill>
                  <a:srgbClr val="526170"/>
                </a:solidFill>
                <a:latin typeface="Arial"/>
                <a:ea typeface="Arial"/>
                <a:cs typeface="Arial"/>
              </a:defRPr>
            </a:lvl5pPr>
            <a:lvl6pPr>
              <a:defRPr sz="1800" b="0">
                <a:solidFill>
                  <a:srgbClr val="526170"/>
                </a:solidFill>
                <a:latin typeface="Arial"/>
                <a:ea typeface="Arial"/>
                <a:cs typeface="Arial"/>
              </a:defRPr>
            </a:lvl6pPr>
            <a:lvl7pPr>
              <a:defRPr sz="1800" b="0">
                <a:solidFill>
                  <a:srgbClr val="526170"/>
                </a:solidFill>
                <a:latin typeface="Arial"/>
                <a:ea typeface="Arial"/>
                <a:cs typeface="Arial"/>
              </a:defRPr>
            </a:lvl7pPr>
            <a:lvl8pPr>
              <a:defRPr sz="1800" b="0">
                <a:solidFill>
                  <a:srgbClr val="526170"/>
                </a:solidFill>
                <a:latin typeface="Arial"/>
                <a:ea typeface="Arial"/>
                <a:cs typeface="Arial"/>
              </a:defRPr>
            </a:lvl8pPr>
            <a:lvl9pPr>
              <a:defRPr sz="1800" b="0">
                <a:solidFill>
                  <a:srgbClr val="526170"/>
                </a:solidFill>
                <a:latin typeface="Arial"/>
                <a:ea typeface="Arial"/>
                <a:cs typeface="Arial"/>
              </a:defRPr>
            </a:lvl9pPr>
          </a:lstStyle>
          <a:p xmlns:a="http://schemas.openxmlformats.org/drawingml/2006/main">
            <a:pPr>
              <a:defRPr sz="1800" b="0">
                <a:solidFill>
                  <a:srgbClr val="526170"/>
                </a:solidFill>
                <a:latin typeface="Arial"/>
                <a:ea typeface="Arial"/>
                <a:cs typeface="Arial"/>
              </a:defRPr>
            </a:pPr>
            <a:r>
              <a:rPr sz="1800" b="0">
                <a:solidFill>
                  <a:srgbClr val="526170"/>
                </a:solidFill>
                <a:latin typeface="Arial"/>
                <a:ea typeface="Arial"/>
                <a:cs typeface="Arial"/>
              </a:rPr>
              <a:t>Actual returned source modes: live_zetaris, cached_sec. These are deterministic controller outputs, not AI reasoning.</a:t>
            </a:r>
          </a:p>
        </p:txBody>
      </p:sp>
    </p:spTree>
    <p:extLst>
      <p:ext uri="{BB962C8B-B14F-4D97-AF65-F5344CB8AC3E}">
        <p14:creationId xmlns:p14="http://schemas.microsoft.com/office/powerpoint/2010/main" val="1032560349"/>
      </p:ext>
    </p:extLst>
  </p:cSld>
</p:sld>
</file>

<file path=ppt/slides/slide4.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763A2D-EA88-4F64-AA5A-99CF76D7102C}"/>
              </a:ext>
            </a:extLst>
          </p:cNvPr>
          <p:cNvSpPr>
            <a:spLocks xmlns:a="http://schemas.openxmlformats.org/drawingml/2006/main" noGrp="1"/>
          </p:cNvSpPr>
          <p:nvPr/>
        </p:nvSpPr>
        <p:spPr>
          <a:xfrm xmlns:a="http://schemas.openxmlformats.org/drawingml/2006/main">
            <a:off x="685800" y="4762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82738"/>
                </a:solidFill>
                <a:latin typeface="Arial"/>
                <a:ea typeface="Arial"/>
                <a:cs typeface="Arial"/>
              </a:defRPr>
            </a:defPPr>
            <a:lvl1pPr>
              <a:defRPr sz="3300" b="1">
                <a:solidFill>
                  <a:srgbClr val="182738"/>
                </a:solidFill>
                <a:latin typeface="Arial"/>
                <a:ea typeface="Arial"/>
                <a:cs typeface="Arial"/>
              </a:defRPr>
            </a:lvl1pPr>
            <a:lvl2pPr>
              <a:defRPr sz="3300" b="1">
                <a:solidFill>
                  <a:srgbClr val="182738"/>
                </a:solidFill>
                <a:latin typeface="Arial"/>
                <a:ea typeface="Arial"/>
                <a:cs typeface="Arial"/>
              </a:defRPr>
            </a:lvl2pPr>
            <a:lvl3pPr>
              <a:defRPr sz="3300" b="1">
                <a:solidFill>
                  <a:srgbClr val="182738"/>
                </a:solidFill>
                <a:latin typeface="Arial"/>
                <a:ea typeface="Arial"/>
                <a:cs typeface="Arial"/>
              </a:defRPr>
            </a:lvl3pPr>
            <a:lvl4pPr>
              <a:defRPr sz="3300" b="1">
                <a:solidFill>
                  <a:srgbClr val="182738"/>
                </a:solidFill>
                <a:latin typeface="Arial"/>
                <a:ea typeface="Arial"/>
                <a:cs typeface="Arial"/>
              </a:defRPr>
            </a:lvl4pPr>
            <a:lvl5pPr>
              <a:defRPr sz="3300" b="1">
                <a:solidFill>
                  <a:srgbClr val="182738"/>
                </a:solidFill>
                <a:latin typeface="Arial"/>
                <a:ea typeface="Arial"/>
                <a:cs typeface="Arial"/>
              </a:defRPr>
            </a:lvl5pPr>
            <a:lvl6pPr>
              <a:defRPr sz="3300" b="1">
                <a:solidFill>
                  <a:srgbClr val="182738"/>
                </a:solidFill>
                <a:latin typeface="Arial"/>
                <a:ea typeface="Arial"/>
                <a:cs typeface="Arial"/>
              </a:defRPr>
            </a:lvl6pPr>
            <a:lvl7pPr>
              <a:defRPr sz="3300" b="1">
                <a:solidFill>
                  <a:srgbClr val="182738"/>
                </a:solidFill>
                <a:latin typeface="Arial"/>
                <a:ea typeface="Arial"/>
                <a:cs typeface="Arial"/>
              </a:defRPr>
            </a:lvl7pPr>
            <a:lvl8pPr>
              <a:defRPr sz="3300" b="1">
                <a:solidFill>
                  <a:srgbClr val="182738"/>
                </a:solidFill>
                <a:latin typeface="Arial"/>
                <a:ea typeface="Arial"/>
                <a:cs typeface="Arial"/>
              </a:defRPr>
            </a:lvl8pPr>
            <a:lvl9pPr>
              <a:defRPr sz="3300" b="1">
                <a:solidFill>
                  <a:srgbClr val="182738"/>
                </a:solidFill>
                <a:latin typeface="Arial"/>
                <a:ea typeface="Arial"/>
                <a:cs typeface="Arial"/>
              </a:defRPr>
            </a:lvl9pPr>
          </a:lstStyle>
          <a:p xmlns:a="http://schemas.openxmlformats.org/drawingml/2006/main">
            <a:pPr>
              <a:defRPr sz="3300" b="1">
                <a:solidFill>
                  <a:srgbClr val="182738"/>
                </a:solidFill>
                <a:latin typeface="Arial"/>
                <a:ea typeface="Arial"/>
                <a:cs typeface="Arial"/>
              </a:defRPr>
            </a:pPr>
            <a:r>
              <a:rPr sz="3300" b="1">
                <a:solidFill>
                  <a:srgbClr val="182738"/>
                </a:solidFill>
                <a:latin typeface="Arial"/>
                <a:ea typeface="Arial"/>
                <a:cs typeface="Arial"/>
              </a:rPr>
              <a:t>Evidence and review safeguards</a:t>
            </a:r>
          </a:p>
        </p:txBody>
      </p:sp>
      <p:sp>
        <p:nvSpPr>
          <p:cNvPr id="2" name="">
            <a:extLst xmlns:a="http://schemas.openxmlformats.org/drawingml/2006/main">
              <a:ext uri="{FF2B5EF4-FFF2-40B4-BE49-F238E27FC236}">
                <a16:creationId xmlns:a16="http://schemas.microsoft.com/office/drawing/2014/main" id="{9B9A1A6A-CBEF-4BFC-900A-C8E4533327C2}"/>
              </a:ext>
            </a:extLst>
          </p:cNvPr>
          <p:cNvSpPr>
            <a:spLocks xmlns:a="http://schemas.openxmlformats.org/drawingml/2006/main" noGrp="1"/>
          </p:cNvSpPr>
          <p:nvPr/>
        </p:nvSpPr>
        <p:spPr>
          <a:xfrm xmlns:a="http://schemas.openxmlformats.org/drawingml/2006/main">
            <a:off x="685800" y="6343650"/>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0">
                <a:solidFill>
                  <a:srgbClr val="526170"/>
                </a:solidFill>
                <a:latin typeface="Arial"/>
                <a:ea typeface="Arial"/>
                <a:cs typeface="Arial"/>
              </a:defRPr>
            </a:defPPr>
            <a:lvl1pPr>
              <a:defRPr sz="1275" b="0">
                <a:solidFill>
                  <a:srgbClr val="526170"/>
                </a:solidFill>
                <a:latin typeface="Arial"/>
                <a:ea typeface="Arial"/>
                <a:cs typeface="Arial"/>
              </a:defRPr>
            </a:lvl1pPr>
            <a:lvl2pPr>
              <a:defRPr sz="1275" b="0">
                <a:solidFill>
                  <a:srgbClr val="526170"/>
                </a:solidFill>
                <a:latin typeface="Arial"/>
                <a:ea typeface="Arial"/>
                <a:cs typeface="Arial"/>
              </a:defRPr>
            </a:lvl2pPr>
            <a:lvl3pPr>
              <a:defRPr sz="1275" b="0">
                <a:solidFill>
                  <a:srgbClr val="526170"/>
                </a:solidFill>
                <a:latin typeface="Arial"/>
                <a:ea typeface="Arial"/>
                <a:cs typeface="Arial"/>
              </a:defRPr>
            </a:lvl3pPr>
            <a:lvl4pPr>
              <a:defRPr sz="1275" b="0">
                <a:solidFill>
                  <a:srgbClr val="526170"/>
                </a:solidFill>
                <a:latin typeface="Arial"/>
                <a:ea typeface="Arial"/>
                <a:cs typeface="Arial"/>
              </a:defRPr>
            </a:lvl4pPr>
            <a:lvl5pPr>
              <a:defRPr sz="1275" b="0">
                <a:solidFill>
                  <a:srgbClr val="526170"/>
                </a:solidFill>
                <a:latin typeface="Arial"/>
                <a:ea typeface="Arial"/>
                <a:cs typeface="Arial"/>
              </a:defRPr>
            </a:lvl5pPr>
            <a:lvl6pPr>
              <a:defRPr sz="1275" b="0">
                <a:solidFill>
                  <a:srgbClr val="526170"/>
                </a:solidFill>
                <a:latin typeface="Arial"/>
                <a:ea typeface="Arial"/>
                <a:cs typeface="Arial"/>
              </a:defRPr>
            </a:lvl6pPr>
            <a:lvl7pPr>
              <a:defRPr sz="1275" b="0">
                <a:solidFill>
                  <a:srgbClr val="526170"/>
                </a:solidFill>
                <a:latin typeface="Arial"/>
                <a:ea typeface="Arial"/>
                <a:cs typeface="Arial"/>
              </a:defRPr>
            </a:lvl7pPr>
            <a:lvl8pPr>
              <a:defRPr sz="1275" b="0">
                <a:solidFill>
                  <a:srgbClr val="526170"/>
                </a:solidFill>
                <a:latin typeface="Arial"/>
                <a:ea typeface="Arial"/>
                <a:cs typeface="Arial"/>
              </a:defRPr>
            </a:lvl8pPr>
            <a:lvl9pPr>
              <a:defRPr sz="1275" b="0">
                <a:solidFill>
                  <a:srgbClr val="526170"/>
                </a:solidFill>
                <a:latin typeface="Arial"/>
                <a:ea typeface="Arial"/>
                <a:cs typeface="Arial"/>
              </a:defRPr>
            </a:lvl9pPr>
          </a:lstStyle>
          <a:p xmlns:a="http://schemas.openxmlformats.org/drawingml/2006/main">
            <a:pPr>
              <a:defRPr sz="1275" b="0">
                <a:solidFill>
                  <a:srgbClr val="526170"/>
                </a:solidFill>
                <a:latin typeface="Arial"/>
                <a:ea typeface="Arial"/>
                <a:cs typeface="Arial"/>
              </a:defRPr>
            </a:pPr>
            <a:r>
              <a:rPr sz="1275" b="0">
                <a:solidFill>
                  <a:srgbClr val="526170"/>
                </a:solidFill>
                <a:latin typeface="Arial"/>
                <a:ea typeface="Arial"/>
                <a:cs typeface="Arial"/>
              </a:rPr>
              <a:t>INTERNAL REVIEW  •  Complete AI investigation remains unmet  •  4/6</a:t>
            </a:r>
          </a:p>
        </p:txBody>
      </p:sp>
      <p:sp>
        <p:nvSpPr>
          <p:cNvPr id="3" name="">
            <a:extLst xmlns:a="http://schemas.openxmlformats.org/drawingml/2006/main">
              <a:ext uri="{FF2B5EF4-FFF2-40B4-BE49-F238E27FC236}">
                <a16:creationId xmlns:a16="http://schemas.microsoft.com/office/drawing/2014/main" id="{23FD97A9-38E0-4749-A431-4FEFF484CFEC}"/>
              </a:ext>
            </a:extLst>
          </p:cNvPr>
          <p:cNvSpPr>
            <a:spLocks xmlns:a="http://schemas.openxmlformats.org/drawingml/2006/main" noGrp="1"/>
          </p:cNvSpPr>
          <p:nvPr/>
        </p:nvSpPr>
        <p:spPr>
          <a:xfrm xmlns:a="http://schemas.openxmlformats.org/drawingml/2006/main">
            <a:off x="685800" y="1476375"/>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AE842F"/>
                </a:solidFill>
                <a:latin typeface="Arial"/>
                <a:ea typeface="Arial"/>
                <a:cs typeface="Arial"/>
              </a:defRPr>
            </a:defPPr>
            <a:lvl1pPr>
              <a:defRPr sz="2175" b="1">
                <a:solidFill>
                  <a:srgbClr val="AE842F"/>
                </a:solidFill>
                <a:latin typeface="Arial"/>
                <a:ea typeface="Arial"/>
                <a:cs typeface="Arial"/>
              </a:defRPr>
            </a:lvl1pPr>
            <a:lvl2pPr>
              <a:defRPr sz="2175" b="1">
                <a:solidFill>
                  <a:srgbClr val="AE842F"/>
                </a:solidFill>
                <a:latin typeface="Arial"/>
                <a:ea typeface="Arial"/>
                <a:cs typeface="Arial"/>
              </a:defRPr>
            </a:lvl2pPr>
            <a:lvl3pPr>
              <a:defRPr sz="2175" b="1">
                <a:solidFill>
                  <a:srgbClr val="AE842F"/>
                </a:solidFill>
                <a:latin typeface="Arial"/>
                <a:ea typeface="Arial"/>
                <a:cs typeface="Arial"/>
              </a:defRPr>
            </a:lvl3pPr>
            <a:lvl4pPr>
              <a:defRPr sz="2175" b="1">
                <a:solidFill>
                  <a:srgbClr val="AE842F"/>
                </a:solidFill>
                <a:latin typeface="Arial"/>
                <a:ea typeface="Arial"/>
                <a:cs typeface="Arial"/>
              </a:defRPr>
            </a:lvl4pPr>
            <a:lvl5pPr>
              <a:defRPr sz="2175" b="1">
                <a:solidFill>
                  <a:srgbClr val="AE842F"/>
                </a:solidFill>
                <a:latin typeface="Arial"/>
                <a:ea typeface="Arial"/>
                <a:cs typeface="Arial"/>
              </a:defRPr>
            </a:lvl5pPr>
            <a:lvl6pPr>
              <a:defRPr sz="2175" b="1">
                <a:solidFill>
                  <a:srgbClr val="AE842F"/>
                </a:solidFill>
                <a:latin typeface="Arial"/>
                <a:ea typeface="Arial"/>
                <a:cs typeface="Arial"/>
              </a:defRPr>
            </a:lvl6pPr>
            <a:lvl7pPr>
              <a:defRPr sz="2175" b="1">
                <a:solidFill>
                  <a:srgbClr val="AE842F"/>
                </a:solidFill>
                <a:latin typeface="Arial"/>
                <a:ea typeface="Arial"/>
                <a:cs typeface="Arial"/>
              </a:defRPr>
            </a:lvl7pPr>
            <a:lvl8pPr>
              <a:defRPr sz="2175" b="1">
                <a:solidFill>
                  <a:srgbClr val="AE842F"/>
                </a:solidFill>
                <a:latin typeface="Arial"/>
                <a:ea typeface="Arial"/>
                <a:cs typeface="Arial"/>
              </a:defRPr>
            </a:lvl8pPr>
            <a:lvl9pPr>
              <a:defRPr sz="2175" b="1">
                <a:solidFill>
                  <a:srgbClr val="AE842F"/>
                </a:solidFill>
                <a:latin typeface="Arial"/>
                <a:ea typeface="Arial"/>
                <a:cs typeface="Arial"/>
              </a:defRPr>
            </a:lvl9pPr>
          </a:lstStyle>
          <a:p xmlns:a="http://schemas.openxmlformats.org/drawingml/2006/main">
            <a:pPr>
              <a:defRPr sz="2175" b="1">
                <a:solidFill>
                  <a:srgbClr val="AE842F"/>
                </a:solidFill>
                <a:latin typeface="Arial"/>
                <a:ea typeface="Arial"/>
                <a:cs typeface="Arial"/>
              </a:defRPr>
            </a:pPr>
            <a:r>
              <a:rPr sz="2175" b="1">
                <a:solidFill>
                  <a:srgbClr val="AE842F"/>
                </a:solidFill>
                <a:latin typeface="Arial"/>
                <a:ea typeface="Arial"/>
                <a:cs typeface="Arial"/>
              </a:rPr>
              <a:t>01  Comparable financial facts</a:t>
            </a:r>
          </a:p>
        </p:txBody>
      </p:sp>
      <p:sp>
        <p:nvSpPr>
          <p:cNvPr id="4" name="">
            <a:extLst xmlns:a="http://schemas.openxmlformats.org/drawingml/2006/main">
              <a:ext uri="{FF2B5EF4-FFF2-40B4-BE49-F238E27FC236}">
                <a16:creationId xmlns:a16="http://schemas.microsoft.com/office/drawing/2014/main" id="{DF298488-0439-47AB-BF44-22C90FDE8B57}"/>
              </a:ext>
            </a:extLst>
          </p:cNvPr>
          <p:cNvSpPr>
            <a:spLocks xmlns:a="http://schemas.openxmlformats.org/drawingml/2006/main" noGrp="1"/>
          </p:cNvSpPr>
          <p:nvPr/>
        </p:nvSpPr>
        <p:spPr>
          <a:xfrm xmlns:a="http://schemas.openxmlformats.org/drawingml/2006/main">
            <a:off x="685800" y="2019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82738"/>
                </a:solidFill>
                <a:latin typeface="Arial"/>
                <a:ea typeface="Arial"/>
                <a:cs typeface="Arial"/>
              </a:defRPr>
            </a:defPPr>
            <a:lvl1pPr>
              <a:defRPr sz="2025" b="0">
                <a:solidFill>
                  <a:srgbClr val="182738"/>
                </a:solidFill>
                <a:latin typeface="Arial"/>
                <a:ea typeface="Arial"/>
                <a:cs typeface="Arial"/>
              </a:defRPr>
            </a:lvl1pPr>
            <a:lvl2pPr>
              <a:defRPr sz="2025" b="0">
                <a:solidFill>
                  <a:srgbClr val="182738"/>
                </a:solidFill>
                <a:latin typeface="Arial"/>
                <a:ea typeface="Arial"/>
                <a:cs typeface="Arial"/>
              </a:defRPr>
            </a:lvl2pPr>
            <a:lvl3pPr>
              <a:defRPr sz="2025" b="0">
                <a:solidFill>
                  <a:srgbClr val="182738"/>
                </a:solidFill>
                <a:latin typeface="Arial"/>
                <a:ea typeface="Arial"/>
                <a:cs typeface="Arial"/>
              </a:defRPr>
            </a:lvl3pPr>
            <a:lvl4pPr>
              <a:defRPr sz="2025" b="0">
                <a:solidFill>
                  <a:srgbClr val="182738"/>
                </a:solidFill>
                <a:latin typeface="Arial"/>
                <a:ea typeface="Arial"/>
                <a:cs typeface="Arial"/>
              </a:defRPr>
            </a:lvl4pPr>
            <a:lvl5pPr>
              <a:defRPr sz="2025" b="0">
                <a:solidFill>
                  <a:srgbClr val="182738"/>
                </a:solidFill>
                <a:latin typeface="Arial"/>
                <a:ea typeface="Arial"/>
                <a:cs typeface="Arial"/>
              </a:defRPr>
            </a:lvl5pPr>
            <a:lvl6pPr>
              <a:defRPr sz="2025" b="0">
                <a:solidFill>
                  <a:srgbClr val="182738"/>
                </a:solidFill>
                <a:latin typeface="Arial"/>
                <a:ea typeface="Arial"/>
                <a:cs typeface="Arial"/>
              </a:defRPr>
            </a:lvl6pPr>
            <a:lvl7pPr>
              <a:defRPr sz="2025" b="0">
                <a:solidFill>
                  <a:srgbClr val="182738"/>
                </a:solidFill>
                <a:latin typeface="Arial"/>
                <a:ea typeface="Arial"/>
                <a:cs typeface="Arial"/>
              </a:defRPr>
            </a:lvl7pPr>
            <a:lvl8pPr>
              <a:defRPr sz="2025" b="0">
                <a:solidFill>
                  <a:srgbClr val="182738"/>
                </a:solidFill>
                <a:latin typeface="Arial"/>
                <a:ea typeface="Arial"/>
                <a:cs typeface="Arial"/>
              </a:defRPr>
            </a:lvl8pPr>
            <a:lvl9pPr>
              <a:defRPr sz="2025" b="0">
                <a:solidFill>
                  <a:srgbClr val="182738"/>
                </a:solidFill>
                <a:latin typeface="Arial"/>
                <a:ea typeface="Arial"/>
                <a:cs typeface="Arial"/>
              </a:defRPr>
            </a:lvl9pPr>
          </a:lstStyle>
          <a:p xmlns:a="http://schemas.openxmlformats.org/drawingml/2006/main">
            <a:pPr>
              <a:defRPr sz="2025" b="0">
                <a:solidFill>
                  <a:srgbClr val="182738"/>
                </a:solidFill>
                <a:latin typeface="Arial"/>
                <a:ea typeface="Arial"/>
                <a:cs typeface="Arial"/>
              </a:defRPr>
            </a:pPr>
            <a:r>
              <a:rPr sz="2025" b="0">
                <a:solidFill>
                  <a:srgbClr val="182738"/>
                </a:solidFill>
                <a:latin typeface="Arial"/>
                <a:ea typeface="Arial"/>
                <a:cs typeface="Arial"/>
              </a:rPr>
              <a:t>Exact quarter, units and GAAP basis; explicit calculation inputs; no year-to-date substitution.</a:t>
            </a:r>
          </a:p>
        </p:txBody>
      </p:sp>
      <p:sp>
        <p:nvSpPr>
          <p:cNvPr id="5" name="">
            <a:extLst xmlns:a="http://schemas.openxmlformats.org/drawingml/2006/main">
              <a:ext uri="{FF2B5EF4-FFF2-40B4-BE49-F238E27FC236}">
                <a16:creationId xmlns:a16="http://schemas.microsoft.com/office/drawing/2014/main" id="{4D4F3E04-EB2C-4308-ACD7-23331FBC01E2}"/>
              </a:ext>
            </a:extLst>
          </p:cNvPr>
          <p:cNvSpPr>
            <a:spLocks xmlns:a="http://schemas.openxmlformats.org/drawingml/2006/main" noGrp="1"/>
          </p:cNvSpPr>
          <p:nvPr/>
        </p:nvSpPr>
        <p:spPr>
          <a:xfrm xmlns:a="http://schemas.openxmlformats.org/drawingml/2006/main">
            <a:off x="685800" y="30289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AE842F"/>
                </a:solidFill>
                <a:latin typeface="Arial"/>
                <a:ea typeface="Arial"/>
                <a:cs typeface="Arial"/>
              </a:defRPr>
            </a:defPPr>
            <a:lvl1pPr>
              <a:defRPr sz="2175" b="1">
                <a:solidFill>
                  <a:srgbClr val="AE842F"/>
                </a:solidFill>
                <a:latin typeface="Arial"/>
                <a:ea typeface="Arial"/>
                <a:cs typeface="Arial"/>
              </a:defRPr>
            </a:lvl1pPr>
            <a:lvl2pPr>
              <a:defRPr sz="2175" b="1">
                <a:solidFill>
                  <a:srgbClr val="AE842F"/>
                </a:solidFill>
                <a:latin typeface="Arial"/>
                <a:ea typeface="Arial"/>
                <a:cs typeface="Arial"/>
              </a:defRPr>
            </a:lvl2pPr>
            <a:lvl3pPr>
              <a:defRPr sz="2175" b="1">
                <a:solidFill>
                  <a:srgbClr val="AE842F"/>
                </a:solidFill>
                <a:latin typeface="Arial"/>
                <a:ea typeface="Arial"/>
                <a:cs typeface="Arial"/>
              </a:defRPr>
            </a:lvl3pPr>
            <a:lvl4pPr>
              <a:defRPr sz="2175" b="1">
                <a:solidFill>
                  <a:srgbClr val="AE842F"/>
                </a:solidFill>
                <a:latin typeface="Arial"/>
                <a:ea typeface="Arial"/>
                <a:cs typeface="Arial"/>
              </a:defRPr>
            </a:lvl4pPr>
            <a:lvl5pPr>
              <a:defRPr sz="2175" b="1">
                <a:solidFill>
                  <a:srgbClr val="AE842F"/>
                </a:solidFill>
                <a:latin typeface="Arial"/>
                <a:ea typeface="Arial"/>
                <a:cs typeface="Arial"/>
              </a:defRPr>
            </a:lvl5pPr>
            <a:lvl6pPr>
              <a:defRPr sz="2175" b="1">
                <a:solidFill>
                  <a:srgbClr val="AE842F"/>
                </a:solidFill>
                <a:latin typeface="Arial"/>
                <a:ea typeface="Arial"/>
                <a:cs typeface="Arial"/>
              </a:defRPr>
            </a:lvl6pPr>
            <a:lvl7pPr>
              <a:defRPr sz="2175" b="1">
                <a:solidFill>
                  <a:srgbClr val="AE842F"/>
                </a:solidFill>
                <a:latin typeface="Arial"/>
                <a:ea typeface="Arial"/>
                <a:cs typeface="Arial"/>
              </a:defRPr>
            </a:lvl7pPr>
            <a:lvl8pPr>
              <a:defRPr sz="2175" b="1">
                <a:solidFill>
                  <a:srgbClr val="AE842F"/>
                </a:solidFill>
                <a:latin typeface="Arial"/>
                <a:ea typeface="Arial"/>
                <a:cs typeface="Arial"/>
              </a:defRPr>
            </a:lvl8pPr>
            <a:lvl9pPr>
              <a:defRPr sz="2175" b="1">
                <a:solidFill>
                  <a:srgbClr val="AE842F"/>
                </a:solidFill>
                <a:latin typeface="Arial"/>
                <a:ea typeface="Arial"/>
                <a:cs typeface="Arial"/>
              </a:defRPr>
            </a:lvl9pPr>
          </a:lstStyle>
          <a:p xmlns:a="http://schemas.openxmlformats.org/drawingml/2006/main">
            <a:pPr>
              <a:defRPr sz="2175" b="1">
                <a:solidFill>
                  <a:srgbClr val="AE842F"/>
                </a:solidFill>
                <a:latin typeface="Arial"/>
                <a:ea typeface="Arial"/>
                <a:cs typeface="Arial"/>
              </a:defRPr>
            </a:pPr>
            <a:r>
              <a:rPr sz="2175" b="1">
                <a:solidFill>
                  <a:srgbClr val="AE842F"/>
                </a:solidFill>
                <a:latin typeface="Arial"/>
                <a:ea typeface="Arial"/>
                <a:cs typeface="Arial"/>
              </a:rPr>
              <a:t>02  Sources and publication dates</a:t>
            </a:r>
          </a:p>
        </p:txBody>
      </p:sp>
      <p:sp>
        <p:nvSpPr>
          <p:cNvPr id="6" name="">
            <a:extLst xmlns:a="http://schemas.openxmlformats.org/drawingml/2006/main">
              <a:ext uri="{FF2B5EF4-FFF2-40B4-BE49-F238E27FC236}">
                <a16:creationId xmlns:a16="http://schemas.microsoft.com/office/drawing/2014/main" id="{33783F7B-AD45-488C-9C33-86F76B4BE97A}"/>
              </a:ext>
            </a:extLst>
          </p:cNvPr>
          <p:cNvSpPr>
            <a:spLocks xmlns:a="http://schemas.openxmlformats.org/drawingml/2006/main" noGrp="1"/>
          </p:cNvSpPr>
          <p:nvPr/>
        </p:nvSpPr>
        <p:spPr>
          <a:xfrm xmlns:a="http://schemas.openxmlformats.org/drawingml/2006/main">
            <a:off x="685800" y="3571875"/>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82738"/>
                </a:solidFill>
                <a:latin typeface="Arial"/>
                <a:ea typeface="Arial"/>
                <a:cs typeface="Arial"/>
              </a:defRPr>
            </a:defPPr>
            <a:lvl1pPr>
              <a:defRPr sz="2025" b="0">
                <a:solidFill>
                  <a:srgbClr val="182738"/>
                </a:solidFill>
                <a:latin typeface="Arial"/>
                <a:ea typeface="Arial"/>
                <a:cs typeface="Arial"/>
              </a:defRPr>
            </a:lvl1pPr>
            <a:lvl2pPr>
              <a:defRPr sz="2025" b="0">
                <a:solidFill>
                  <a:srgbClr val="182738"/>
                </a:solidFill>
                <a:latin typeface="Arial"/>
                <a:ea typeface="Arial"/>
                <a:cs typeface="Arial"/>
              </a:defRPr>
            </a:lvl2pPr>
            <a:lvl3pPr>
              <a:defRPr sz="2025" b="0">
                <a:solidFill>
                  <a:srgbClr val="182738"/>
                </a:solidFill>
                <a:latin typeface="Arial"/>
                <a:ea typeface="Arial"/>
                <a:cs typeface="Arial"/>
              </a:defRPr>
            </a:lvl3pPr>
            <a:lvl4pPr>
              <a:defRPr sz="2025" b="0">
                <a:solidFill>
                  <a:srgbClr val="182738"/>
                </a:solidFill>
                <a:latin typeface="Arial"/>
                <a:ea typeface="Arial"/>
                <a:cs typeface="Arial"/>
              </a:defRPr>
            </a:lvl4pPr>
            <a:lvl5pPr>
              <a:defRPr sz="2025" b="0">
                <a:solidFill>
                  <a:srgbClr val="182738"/>
                </a:solidFill>
                <a:latin typeface="Arial"/>
                <a:ea typeface="Arial"/>
                <a:cs typeface="Arial"/>
              </a:defRPr>
            </a:lvl5pPr>
            <a:lvl6pPr>
              <a:defRPr sz="2025" b="0">
                <a:solidFill>
                  <a:srgbClr val="182738"/>
                </a:solidFill>
                <a:latin typeface="Arial"/>
                <a:ea typeface="Arial"/>
                <a:cs typeface="Arial"/>
              </a:defRPr>
            </a:lvl6pPr>
            <a:lvl7pPr>
              <a:defRPr sz="2025" b="0">
                <a:solidFill>
                  <a:srgbClr val="182738"/>
                </a:solidFill>
                <a:latin typeface="Arial"/>
                <a:ea typeface="Arial"/>
                <a:cs typeface="Arial"/>
              </a:defRPr>
            </a:lvl7pPr>
            <a:lvl8pPr>
              <a:defRPr sz="2025" b="0">
                <a:solidFill>
                  <a:srgbClr val="182738"/>
                </a:solidFill>
                <a:latin typeface="Arial"/>
                <a:ea typeface="Arial"/>
                <a:cs typeface="Arial"/>
              </a:defRPr>
            </a:lvl8pPr>
            <a:lvl9pPr>
              <a:defRPr sz="2025" b="0">
                <a:solidFill>
                  <a:srgbClr val="182738"/>
                </a:solidFill>
                <a:latin typeface="Arial"/>
                <a:ea typeface="Arial"/>
                <a:cs typeface="Arial"/>
              </a:defRPr>
            </a:lvl9pPr>
          </a:lstStyle>
          <a:p xmlns:a="http://schemas.openxmlformats.org/drawingml/2006/main">
            <a:pPr>
              <a:defRPr sz="2025" b="0">
                <a:solidFill>
                  <a:srgbClr val="182738"/>
                </a:solidFill>
                <a:latin typeface="Arial"/>
                <a:ea typeface="Arial"/>
                <a:cs typeface="Arial"/>
              </a:defRPr>
            </a:pPr>
            <a:r>
              <a:rPr sz="2025" b="0">
                <a:solidFill>
                  <a:srgbClr val="182738"/>
                </a:solidFill>
                <a:latin typeface="Arial"/>
                <a:ea typeface="Arial"/>
                <a:cs typeface="Arial"/>
              </a:rPr>
              <a:t>Primary citations, as-of filtering and source fingerprints. Unresolved findings remain visible.</a:t>
            </a:r>
          </a:p>
        </p:txBody>
      </p:sp>
      <p:sp>
        <p:nvSpPr>
          <p:cNvPr id="7" name="">
            <a:extLst xmlns:a="http://schemas.openxmlformats.org/drawingml/2006/main">
              <a:ext uri="{FF2B5EF4-FFF2-40B4-BE49-F238E27FC236}">
                <a16:creationId xmlns:a16="http://schemas.microsoft.com/office/drawing/2014/main" id="{FDD70887-CE96-4221-891F-D7E2C4D47701}"/>
              </a:ext>
            </a:extLst>
          </p:cNvPr>
          <p:cNvSpPr>
            <a:spLocks xmlns:a="http://schemas.openxmlformats.org/drawingml/2006/main" noGrp="1"/>
          </p:cNvSpPr>
          <p:nvPr/>
        </p:nvSpPr>
        <p:spPr>
          <a:xfrm xmlns:a="http://schemas.openxmlformats.org/drawingml/2006/main">
            <a:off x="685800" y="457200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AE842F"/>
                </a:solidFill>
                <a:latin typeface="Arial"/>
                <a:ea typeface="Arial"/>
                <a:cs typeface="Arial"/>
              </a:defRPr>
            </a:defPPr>
            <a:lvl1pPr>
              <a:defRPr sz="2175" b="1">
                <a:solidFill>
                  <a:srgbClr val="AE842F"/>
                </a:solidFill>
                <a:latin typeface="Arial"/>
                <a:ea typeface="Arial"/>
                <a:cs typeface="Arial"/>
              </a:defRPr>
            </a:lvl1pPr>
            <a:lvl2pPr>
              <a:defRPr sz="2175" b="1">
                <a:solidFill>
                  <a:srgbClr val="AE842F"/>
                </a:solidFill>
                <a:latin typeface="Arial"/>
                <a:ea typeface="Arial"/>
                <a:cs typeface="Arial"/>
              </a:defRPr>
            </a:lvl2pPr>
            <a:lvl3pPr>
              <a:defRPr sz="2175" b="1">
                <a:solidFill>
                  <a:srgbClr val="AE842F"/>
                </a:solidFill>
                <a:latin typeface="Arial"/>
                <a:ea typeface="Arial"/>
                <a:cs typeface="Arial"/>
              </a:defRPr>
            </a:lvl3pPr>
            <a:lvl4pPr>
              <a:defRPr sz="2175" b="1">
                <a:solidFill>
                  <a:srgbClr val="AE842F"/>
                </a:solidFill>
                <a:latin typeface="Arial"/>
                <a:ea typeface="Arial"/>
                <a:cs typeface="Arial"/>
              </a:defRPr>
            </a:lvl4pPr>
            <a:lvl5pPr>
              <a:defRPr sz="2175" b="1">
                <a:solidFill>
                  <a:srgbClr val="AE842F"/>
                </a:solidFill>
                <a:latin typeface="Arial"/>
                <a:ea typeface="Arial"/>
                <a:cs typeface="Arial"/>
              </a:defRPr>
            </a:lvl5pPr>
            <a:lvl6pPr>
              <a:defRPr sz="2175" b="1">
                <a:solidFill>
                  <a:srgbClr val="AE842F"/>
                </a:solidFill>
                <a:latin typeface="Arial"/>
                <a:ea typeface="Arial"/>
                <a:cs typeface="Arial"/>
              </a:defRPr>
            </a:lvl6pPr>
            <a:lvl7pPr>
              <a:defRPr sz="2175" b="1">
                <a:solidFill>
                  <a:srgbClr val="AE842F"/>
                </a:solidFill>
                <a:latin typeface="Arial"/>
                <a:ea typeface="Arial"/>
                <a:cs typeface="Arial"/>
              </a:defRPr>
            </a:lvl7pPr>
            <a:lvl8pPr>
              <a:defRPr sz="2175" b="1">
                <a:solidFill>
                  <a:srgbClr val="AE842F"/>
                </a:solidFill>
                <a:latin typeface="Arial"/>
                <a:ea typeface="Arial"/>
                <a:cs typeface="Arial"/>
              </a:defRPr>
            </a:lvl8pPr>
            <a:lvl9pPr>
              <a:defRPr sz="2175" b="1">
                <a:solidFill>
                  <a:srgbClr val="AE842F"/>
                </a:solidFill>
                <a:latin typeface="Arial"/>
                <a:ea typeface="Arial"/>
                <a:cs typeface="Arial"/>
              </a:defRPr>
            </a:lvl9pPr>
          </a:lstStyle>
          <a:p xmlns:a="http://schemas.openxmlformats.org/drawingml/2006/main">
            <a:pPr>
              <a:defRPr sz="2175" b="1">
                <a:solidFill>
                  <a:srgbClr val="AE842F"/>
                </a:solidFill>
                <a:latin typeface="Arial"/>
                <a:ea typeface="Arial"/>
                <a:cs typeface="Arial"/>
              </a:defRPr>
            </a:pPr>
            <a:r>
              <a:rPr sz="2175" b="1">
                <a:solidFill>
                  <a:srgbClr val="AE842F"/>
                </a:solidFill>
                <a:latin typeface="Arial"/>
                <a:ea typeface="Arial"/>
                <a:cs typeface="Arial"/>
              </a:rPr>
              <a:t>03  Reviewed memory and durable decisions</a:t>
            </a:r>
          </a:p>
        </p:txBody>
      </p:sp>
      <p:sp>
        <p:nvSpPr>
          <p:cNvPr id="8" name="">
            <a:extLst xmlns:a="http://schemas.openxmlformats.org/drawingml/2006/main">
              <a:ext uri="{FF2B5EF4-FFF2-40B4-BE49-F238E27FC236}">
                <a16:creationId xmlns:a16="http://schemas.microsoft.com/office/drawing/2014/main" id="{FEF17719-94FB-420B-9B27-B99340A05313}"/>
              </a:ext>
            </a:extLst>
          </p:cNvPr>
          <p:cNvSpPr>
            <a:spLocks xmlns:a="http://schemas.openxmlformats.org/drawingml/2006/main" noGrp="1"/>
          </p:cNvSpPr>
          <p:nvPr/>
        </p:nvSpPr>
        <p:spPr>
          <a:xfrm xmlns:a="http://schemas.openxmlformats.org/drawingml/2006/main">
            <a:off x="685800" y="5114925"/>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82738"/>
                </a:solidFill>
                <a:latin typeface="Arial"/>
                <a:ea typeface="Arial"/>
                <a:cs typeface="Arial"/>
              </a:defRPr>
            </a:defPPr>
            <a:lvl1pPr>
              <a:defRPr sz="2025" b="0">
                <a:solidFill>
                  <a:srgbClr val="182738"/>
                </a:solidFill>
                <a:latin typeface="Arial"/>
                <a:ea typeface="Arial"/>
                <a:cs typeface="Arial"/>
              </a:defRPr>
            </a:lvl1pPr>
            <a:lvl2pPr>
              <a:defRPr sz="2025" b="0">
                <a:solidFill>
                  <a:srgbClr val="182738"/>
                </a:solidFill>
                <a:latin typeface="Arial"/>
                <a:ea typeface="Arial"/>
                <a:cs typeface="Arial"/>
              </a:defRPr>
            </a:lvl2pPr>
            <a:lvl3pPr>
              <a:defRPr sz="2025" b="0">
                <a:solidFill>
                  <a:srgbClr val="182738"/>
                </a:solidFill>
                <a:latin typeface="Arial"/>
                <a:ea typeface="Arial"/>
                <a:cs typeface="Arial"/>
              </a:defRPr>
            </a:lvl3pPr>
            <a:lvl4pPr>
              <a:defRPr sz="2025" b="0">
                <a:solidFill>
                  <a:srgbClr val="182738"/>
                </a:solidFill>
                <a:latin typeface="Arial"/>
                <a:ea typeface="Arial"/>
                <a:cs typeface="Arial"/>
              </a:defRPr>
            </a:lvl4pPr>
            <a:lvl5pPr>
              <a:defRPr sz="2025" b="0">
                <a:solidFill>
                  <a:srgbClr val="182738"/>
                </a:solidFill>
                <a:latin typeface="Arial"/>
                <a:ea typeface="Arial"/>
                <a:cs typeface="Arial"/>
              </a:defRPr>
            </a:lvl5pPr>
            <a:lvl6pPr>
              <a:defRPr sz="2025" b="0">
                <a:solidFill>
                  <a:srgbClr val="182738"/>
                </a:solidFill>
                <a:latin typeface="Arial"/>
                <a:ea typeface="Arial"/>
                <a:cs typeface="Arial"/>
              </a:defRPr>
            </a:lvl6pPr>
            <a:lvl7pPr>
              <a:defRPr sz="2025" b="0">
                <a:solidFill>
                  <a:srgbClr val="182738"/>
                </a:solidFill>
                <a:latin typeface="Arial"/>
                <a:ea typeface="Arial"/>
                <a:cs typeface="Arial"/>
              </a:defRPr>
            </a:lvl7pPr>
            <a:lvl8pPr>
              <a:defRPr sz="2025" b="0">
                <a:solidFill>
                  <a:srgbClr val="182738"/>
                </a:solidFill>
                <a:latin typeface="Arial"/>
                <a:ea typeface="Arial"/>
                <a:cs typeface="Arial"/>
              </a:defRPr>
            </a:lvl8pPr>
            <a:lvl9pPr>
              <a:defRPr sz="2025" b="0">
                <a:solidFill>
                  <a:srgbClr val="182738"/>
                </a:solidFill>
                <a:latin typeface="Arial"/>
                <a:ea typeface="Arial"/>
                <a:cs typeface="Arial"/>
              </a:defRPr>
            </a:lvl9pPr>
          </a:lstStyle>
          <a:p xmlns:a="http://schemas.openxmlformats.org/drawingml/2006/main">
            <a:pPr>
              <a:defRPr sz="2025" b="0">
                <a:solidFill>
                  <a:srgbClr val="182738"/>
                </a:solidFill>
                <a:latin typeface="Arial"/>
                <a:ea typeface="Arial"/>
                <a:cs typeface="Arial"/>
              </a:defRPr>
            </a:pPr>
            <a:r>
              <a:rPr sz="2025" b="0">
                <a:solidFill>
                  <a:srgbClr val="182738"/>
                </a:solidFill>
                <a:latin typeface="Arial"/>
                <a:ea typeface="Arial"/>
                <a:cs typeface="Arial"/>
              </a:rPr>
              <a:t>H-MEM corrections require approval and persist. Recall is scoped; memory cannot replace financial evidence.</a:t>
            </a:r>
          </a:p>
        </p:txBody>
      </p:sp>
    </p:spTree>
    <p:extLst>
      <p:ext uri="{BB962C8B-B14F-4D97-AF65-F5344CB8AC3E}">
        <p14:creationId xmlns:p14="http://schemas.microsoft.com/office/powerpoint/2010/main" val="1679679361"/>
      </p:ext>
    </p:extLst>
  </p:cSld>
</p:sld>
</file>

<file path=ppt/slides/slide5.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69CA956-20C7-4033-A535-C3E654919EAC}"/>
              </a:ext>
            </a:extLst>
          </p:cNvPr>
          <p:cNvSpPr>
            <a:spLocks xmlns:a="http://schemas.openxmlformats.org/drawingml/2006/main" noGrp="1"/>
          </p:cNvSpPr>
          <p:nvPr/>
        </p:nvSpPr>
        <p:spPr>
          <a:xfrm xmlns:a="http://schemas.openxmlformats.org/drawingml/2006/main">
            <a:off x="685800" y="4762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82738"/>
                </a:solidFill>
                <a:latin typeface="Arial"/>
                <a:ea typeface="Arial"/>
                <a:cs typeface="Arial"/>
              </a:defRPr>
            </a:defPPr>
            <a:lvl1pPr>
              <a:defRPr sz="3300" b="1">
                <a:solidFill>
                  <a:srgbClr val="182738"/>
                </a:solidFill>
                <a:latin typeface="Arial"/>
                <a:ea typeface="Arial"/>
                <a:cs typeface="Arial"/>
              </a:defRPr>
            </a:lvl1pPr>
            <a:lvl2pPr>
              <a:defRPr sz="3300" b="1">
                <a:solidFill>
                  <a:srgbClr val="182738"/>
                </a:solidFill>
                <a:latin typeface="Arial"/>
                <a:ea typeface="Arial"/>
                <a:cs typeface="Arial"/>
              </a:defRPr>
            </a:lvl2pPr>
            <a:lvl3pPr>
              <a:defRPr sz="3300" b="1">
                <a:solidFill>
                  <a:srgbClr val="182738"/>
                </a:solidFill>
                <a:latin typeface="Arial"/>
                <a:ea typeface="Arial"/>
                <a:cs typeface="Arial"/>
              </a:defRPr>
            </a:lvl3pPr>
            <a:lvl4pPr>
              <a:defRPr sz="3300" b="1">
                <a:solidFill>
                  <a:srgbClr val="182738"/>
                </a:solidFill>
                <a:latin typeface="Arial"/>
                <a:ea typeface="Arial"/>
                <a:cs typeface="Arial"/>
              </a:defRPr>
            </a:lvl4pPr>
            <a:lvl5pPr>
              <a:defRPr sz="3300" b="1">
                <a:solidFill>
                  <a:srgbClr val="182738"/>
                </a:solidFill>
                <a:latin typeface="Arial"/>
                <a:ea typeface="Arial"/>
                <a:cs typeface="Arial"/>
              </a:defRPr>
            </a:lvl5pPr>
            <a:lvl6pPr>
              <a:defRPr sz="3300" b="1">
                <a:solidFill>
                  <a:srgbClr val="182738"/>
                </a:solidFill>
                <a:latin typeface="Arial"/>
                <a:ea typeface="Arial"/>
                <a:cs typeface="Arial"/>
              </a:defRPr>
            </a:lvl6pPr>
            <a:lvl7pPr>
              <a:defRPr sz="3300" b="1">
                <a:solidFill>
                  <a:srgbClr val="182738"/>
                </a:solidFill>
                <a:latin typeface="Arial"/>
                <a:ea typeface="Arial"/>
                <a:cs typeface="Arial"/>
              </a:defRPr>
            </a:lvl7pPr>
            <a:lvl8pPr>
              <a:defRPr sz="3300" b="1">
                <a:solidFill>
                  <a:srgbClr val="182738"/>
                </a:solidFill>
                <a:latin typeface="Arial"/>
                <a:ea typeface="Arial"/>
                <a:cs typeface="Arial"/>
              </a:defRPr>
            </a:lvl8pPr>
            <a:lvl9pPr>
              <a:defRPr sz="3300" b="1">
                <a:solidFill>
                  <a:srgbClr val="182738"/>
                </a:solidFill>
                <a:latin typeface="Arial"/>
                <a:ea typeface="Arial"/>
                <a:cs typeface="Arial"/>
              </a:defRPr>
            </a:lvl9pPr>
          </a:lstStyle>
          <a:p xmlns:a="http://schemas.openxmlformats.org/drawingml/2006/main">
            <a:pPr>
              <a:defRPr sz="3300" b="1">
                <a:solidFill>
                  <a:srgbClr val="182738"/>
                </a:solidFill>
                <a:latin typeface="Arial"/>
                <a:ea typeface="Arial"/>
                <a:cs typeface="Arial"/>
              </a:defRPr>
            </a:pPr>
            <a:r>
              <a:rPr sz="3300" b="1">
                <a:solidFill>
                  <a:srgbClr val="182738"/>
                </a:solidFill>
                <a:latin typeface="Arial"/>
                <a:ea typeface="Arial"/>
                <a:cs typeface="Arial"/>
              </a:rPr>
              <a:t>Sponsor functionality and gaps</a:t>
            </a:r>
          </a:p>
        </p:txBody>
      </p:sp>
      <p:sp>
        <p:nvSpPr>
          <p:cNvPr id="2" name="">
            <a:extLst xmlns:a="http://schemas.openxmlformats.org/drawingml/2006/main">
              <a:ext uri="{FF2B5EF4-FFF2-40B4-BE49-F238E27FC236}">
                <a16:creationId xmlns:a16="http://schemas.microsoft.com/office/drawing/2014/main" id="{7E74691A-8B1B-4D1D-BFB0-C490D4B3D626}"/>
              </a:ext>
            </a:extLst>
          </p:cNvPr>
          <p:cNvSpPr>
            <a:spLocks xmlns:a="http://schemas.openxmlformats.org/drawingml/2006/main" noGrp="1"/>
          </p:cNvSpPr>
          <p:nvPr/>
        </p:nvSpPr>
        <p:spPr>
          <a:xfrm xmlns:a="http://schemas.openxmlformats.org/drawingml/2006/main">
            <a:off x="685800" y="6343650"/>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0">
                <a:solidFill>
                  <a:srgbClr val="526170"/>
                </a:solidFill>
                <a:latin typeface="Arial"/>
                <a:ea typeface="Arial"/>
                <a:cs typeface="Arial"/>
              </a:defRPr>
            </a:defPPr>
            <a:lvl1pPr>
              <a:defRPr sz="1275" b="0">
                <a:solidFill>
                  <a:srgbClr val="526170"/>
                </a:solidFill>
                <a:latin typeface="Arial"/>
                <a:ea typeface="Arial"/>
                <a:cs typeface="Arial"/>
              </a:defRPr>
            </a:lvl1pPr>
            <a:lvl2pPr>
              <a:defRPr sz="1275" b="0">
                <a:solidFill>
                  <a:srgbClr val="526170"/>
                </a:solidFill>
                <a:latin typeface="Arial"/>
                <a:ea typeface="Arial"/>
                <a:cs typeface="Arial"/>
              </a:defRPr>
            </a:lvl2pPr>
            <a:lvl3pPr>
              <a:defRPr sz="1275" b="0">
                <a:solidFill>
                  <a:srgbClr val="526170"/>
                </a:solidFill>
                <a:latin typeface="Arial"/>
                <a:ea typeface="Arial"/>
                <a:cs typeface="Arial"/>
              </a:defRPr>
            </a:lvl3pPr>
            <a:lvl4pPr>
              <a:defRPr sz="1275" b="0">
                <a:solidFill>
                  <a:srgbClr val="526170"/>
                </a:solidFill>
                <a:latin typeface="Arial"/>
                <a:ea typeface="Arial"/>
                <a:cs typeface="Arial"/>
              </a:defRPr>
            </a:lvl4pPr>
            <a:lvl5pPr>
              <a:defRPr sz="1275" b="0">
                <a:solidFill>
                  <a:srgbClr val="526170"/>
                </a:solidFill>
                <a:latin typeface="Arial"/>
                <a:ea typeface="Arial"/>
                <a:cs typeface="Arial"/>
              </a:defRPr>
            </a:lvl5pPr>
            <a:lvl6pPr>
              <a:defRPr sz="1275" b="0">
                <a:solidFill>
                  <a:srgbClr val="526170"/>
                </a:solidFill>
                <a:latin typeface="Arial"/>
                <a:ea typeface="Arial"/>
                <a:cs typeface="Arial"/>
              </a:defRPr>
            </a:lvl6pPr>
            <a:lvl7pPr>
              <a:defRPr sz="1275" b="0">
                <a:solidFill>
                  <a:srgbClr val="526170"/>
                </a:solidFill>
                <a:latin typeface="Arial"/>
                <a:ea typeface="Arial"/>
                <a:cs typeface="Arial"/>
              </a:defRPr>
            </a:lvl7pPr>
            <a:lvl8pPr>
              <a:defRPr sz="1275" b="0">
                <a:solidFill>
                  <a:srgbClr val="526170"/>
                </a:solidFill>
                <a:latin typeface="Arial"/>
                <a:ea typeface="Arial"/>
                <a:cs typeface="Arial"/>
              </a:defRPr>
            </a:lvl8pPr>
            <a:lvl9pPr>
              <a:defRPr sz="1275" b="0">
                <a:solidFill>
                  <a:srgbClr val="526170"/>
                </a:solidFill>
                <a:latin typeface="Arial"/>
                <a:ea typeface="Arial"/>
                <a:cs typeface="Arial"/>
              </a:defRPr>
            </a:lvl9pPr>
          </a:lstStyle>
          <a:p xmlns:a="http://schemas.openxmlformats.org/drawingml/2006/main">
            <a:pPr>
              <a:defRPr sz="1275" b="0">
                <a:solidFill>
                  <a:srgbClr val="526170"/>
                </a:solidFill>
                <a:latin typeface="Arial"/>
                <a:ea typeface="Arial"/>
                <a:cs typeface="Arial"/>
              </a:defRPr>
            </a:pPr>
            <a:r>
              <a:rPr sz="1275" b="0">
                <a:solidFill>
                  <a:srgbClr val="526170"/>
                </a:solidFill>
                <a:latin typeface="Arial"/>
                <a:ea typeface="Arial"/>
                <a:cs typeface="Arial"/>
              </a:rPr>
              <a:t>INTERNAL REVIEW  •  Complete AI investigation remains unmet  •  5/6</a:t>
            </a:r>
          </a:p>
        </p:txBody>
      </p:sp>
      <p:graphicFrame>
        <p:nvGraphicFramePr>
          <p:cNvPr id="3" name="">
            <a:extLst xmlns:a="http://schemas.openxmlformats.org/drawingml/2006/main">
              <a:ext uri="{FF2B5EF4-FFF2-40B4-BE49-F238E27FC236}">
                <a16:creationId xmlns:a16="http://schemas.microsoft.com/office/drawing/2014/main" id="{10229904-25F0-42AE-BB2E-266857F37733}"/>
              </a:ext>
            </a:extLst>
          </p:cNvPr>
          <p:cNvGraphicFramePr/>
          <p:nvPr/>
        </p:nvGraphicFramePr>
        <p:xfrm>
          <a:off xmlns:a="http://schemas.openxmlformats.org/drawingml/2006/main" x="685800" y="1419225"/>
          <a:ext xmlns:a="http://schemas.openxmlformats.org/drawingml/2006/main" cx="10820400" cy="4286250"/>
        </p:xfrm>
        <a:graphic xmlns:a="http://schemas.openxmlformats.org/drawingml/2006/main">
          <a:graphicData uri="http://schemas.openxmlformats.org/drawingml/2006/table">
            <a:tbl>
              <a:tblPr/>
              <a:tblGrid>
                <a:gridCol w="2305050"/>
                <a:gridCol w="4257675"/>
                <a:gridCol w="4257675"/>
              </a:tblGrid>
              <a:tr h="714375">
                <a:tc>
                  <a:txBody>
                    <a:bodyPr/>
                    <a:lstStyle/>
                    <a:p>
                      <a:r>
                        <a:rPr sz="1725" b="1">
                          <a:solidFill>
                            <a:srgbClr val="FFFFFF"/>
                          </a:solidFill>
                          <a:latin typeface="Arial"/>
                          <a:ea typeface="Arial"/>
                          <a:cs typeface="Arial"/>
                        </a:rPr>
                        <a:t>Technology</a:t>
                      </a:r>
                    </a:p>
                  </a:txBody>
                  <a:tcPr marL="91440" marR="91440" marT="45720" marB="45720">
                    <a:lnL w="6668">
                      <a:solidFill>
                        <a:srgbClr val="D8D7CF"/>
                      </a:solidFill>
                      <a:prstDash val="solid"/>
                    </a:lnL>
                    <a:lnR w="6668">
                      <a:solidFill>
                        <a:srgbClr val="D8D7CF"/>
                      </a:solidFill>
                      <a:prstDash val="solid"/>
                    </a:lnR>
                    <a:lnT w="6668">
                      <a:solidFill>
                        <a:srgbClr val="D8D7CF"/>
                      </a:solidFill>
                      <a:prstDash val="solid"/>
                    </a:lnT>
                    <a:lnB w="6668">
                      <a:solidFill>
                        <a:srgbClr val="D8D7CF"/>
                      </a:solidFill>
                      <a:prstDash val="solid"/>
                    </a:lnB>
                    <a:solidFill>
                      <a:srgbClr val="122235"/>
                    </a:solidFill>
                  </a:tcPr>
                </a:tc>
                <a:tc>
                  <a:txBody>
                    <a:bodyPr/>
                    <a:lstStyle/>
                    <a:p>
                      <a:r>
                        <a:rPr sz="1725" b="1">
                          <a:solidFill>
                            <a:srgbClr val="FFFFFF"/>
                          </a:solidFill>
                          <a:latin typeface="Arial"/>
                          <a:ea typeface="Arial"/>
                          <a:cs typeface="Arial"/>
                        </a:rPr>
                        <a:t>Observed contribution</a:t>
                      </a:r>
                    </a:p>
                  </a:txBody>
                  <a:tcPr marL="91440" marR="91440" marT="45720" marB="45720">
                    <a:lnR w="6668">
                      <a:solidFill>
                        <a:srgbClr val="D8D7CF"/>
                      </a:solidFill>
                      <a:prstDash val="solid"/>
                    </a:lnR>
                    <a:lnT w="6668">
                      <a:solidFill>
                        <a:srgbClr val="D8D7CF"/>
                      </a:solidFill>
                      <a:prstDash val="solid"/>
                    </a:lnT>
                    <a:lnB w="6668">
                      <a:solidFill>
                        <a:srgbClr val="D8D7CF"/>
                      </a:solidFill>
                      <a:prstDash val="solid"/>
                    </a:lnB>
                    <a:solidFill>
                      <a:srgbClr val="122235"/>
                    </a:solidFill>
                  </a:tcPr>
                </a:tc>
                <a:tc>
                  <a:txBody>
                    <a:bodyPr/>
                    <a:lstStyle/>
                    <a:p>
                      <a:r>
                        <a:rPr sz="1725" b="1">
                          <a:solidFill>
                            <a:srgbClr val="FFFFFF"/>
                          </a:solidFill>
                          <a:latin typeface="Arial"/>
                          <a:ea typeface="Arial"/>
                          <a:cs typeface="Arial"/>
                        </a:rPr>
                        <a:t>Remaining limitation</a:t>
                      </a:r>
                    </a:p>
                  </a:txBody>
                  <a:tcPr marL="91440" marR="91440" marT="45720" marB="45720">
                    <a:lnR w="6668">
                      <a:solidFill>
                        <a:srgbClr val="D8D7CF"/>
                      </a:solidFill>
                      <a:prstDash val="solid"/>
                    </a:lnR>
                    <a:lnT w="6668">
                      <a:solidFill>
                        <a:srgbClr val="D8D7CF"/>
                      </a:solidFill>
                      <a:prstDash val="solid"/>
                    </a:lnT>
                    <a:lnB w="6668">
                      <a:solidFill>
                        <a:srgbClr val="D8D7CF"/>
                      </a:solidFill>
                      <a:prstDash val="solid"/>
                    </a:lnB>
                    <a:solidFill>
                      <a:srgbClr val="122235"/>
                    </a:solidFill>
                  </a:tcPr>
                </a:tc>
              </a:tr>
              <a:tr h="714375">
                <a:tc>
                  <a:txBody>
                    <a:bodyPr/>
                    <a:lstStyle/>
                    <a:p>
                      <a:r>
                        <a:rPr sz="1650" b="0">
                          <a:solidFill>
                            <a:srgbClr val="182738"/>
                          </a:solidFill>
                          <a:latin typeface="Arial"/>
                          <a:ea typeface="Arial"/>
                          <a:cs typeface="Arial"/>
                        </a:rPr>
                        <a:t>Zetaris</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AF8F2"/>
                    </a:solidFill>
                  </a:tcPr>
                </a:tc>
                <a:tc>
                  <a:txBody>
                    <a:bodyPr/>
                    <a:lstStyle/>
                    <a:p>
                      <a:r>
                        <a:rPr sz="1650" b="0">
                          <a:solidFill>
                            <a:srgbClr val="182738"/>
                          </a:solidFill>
                          <a:latin typeface="Arial"/>
                          <a:ea typeface="Arial"/>
                          <a:cs typeface="Arial"/>
                        </a:rPr>
                        <a:t>Real scoped financial SQL and SEC provenance</a:t>
                      </a:r>
                    </a:p>
                  </a:txBody>
                  <a:tcPr marL="91440" marR="91440" marT="45720" marB="45720">
                    <a:lnR w="6668">
                      <a:solidFill>
                        <a:srgbClr val="D8D7CF"/>
                      </a:solidFill>
                      <a:prstDash val="solid"/>
                    </a:lnR>
                    <a:lnB w="6668">
                      <a:solidFill>
                        <a:srgbClr val="D8D7CF"/>
                      </a:solidFill>
                      <a:prstDash val="solid"/>
                    </a:lnB>
                    <a:solidFill>
                      <a:srgbClr val="FAF8F2"/>
                    </a:solidFill>
                  </a:tcPr>
                </a:tc>
                <a:tc>
                  <a:txBody>
                    <a:bodyPr/>
                    <a:lstStyle/>
                    <a:p>
                      <a:r>
                        <a:rPr sz="1650" b="0">
                          <a:solidFill>
                            <a:srgbClr val="182738"/>
                          </a:solidFill>
                          <a:latin typeface="Arial"/>
                          <a:ea typeface="Arial"/>
                          <a:cs typeface="Arial"/>
                        </a:rPr>
                        <a:t>Initial approved view has limited company/period coverage</a:t>
                      </a:r>
                    </a:p>
                  </a:txBody>
                  <a:tcPr marL="91440" marR="91440" marT="45720" marB="45720">
                    <a:lnR w="6668">
                      <a:solidFill>
                        <a:srgbClr val="D8D7CF"/>
                      </a:solidFill>
                      <a:prstDash val="solid"/>
                    </a:lnR>
                    <a:lnB w="6668">
                      <a:solidFill>
                        <a:srgbClr val="D8D7CF"/>
                      </a:solidFill>
                      <a:prstDash val="solid"/>
                    </a:lnB>
                    <a:solidFill>
                      <a:srgbClr val="FAF8F2"/>
                    </a:solidFill>
                  </a:tcPr>
                </a:tc>
              </a:tr>
              <a:tr h="714375">
                <a:tc>
                  <a:txBody>
                    <a:bodyPr/>
                    <a:lstStyle/>
                    <a:p>
                      <a:r>
                        <a:rPr sz="1650" b="0">
                          <a:solidFill>
                            <a:srgbClr val="182738"/>
                          </a:solidFill>
                          <a:latin typeface="Arial"/>
                          <a:ea typeface="Arial"/>
                          <a:cs typeface="Arial"/>
                        </a:rPr>
                        <a:t>Meterless H-MEM</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0EEE7"/>
                    </a:solidFill>
                  </a:tcPr>
                </a:tc>
                <a:tc>
                  <a:txBody>
                    <a:bodyPr/>
                    <a:lstStyle/>
                    <a:p>
                      <a:r>
                        <a:rPr sz="1650" b="0">
                          <a:solidFill>
                            <a:srgbClr val="182738"/>
                          </a:solidFill>
                          <a:latin typeface="Arial"/>
                          <a:ea typeface="Arial"/>
                          <a:cs typeface="Arial"/>
                        </a:rPr>
                        <a:t>Actual store, reviewed correction and scoped recall</a:t>
                      </a:r>
                    </a:p>
                  </a:txBody>
                  <a:tcPr marL="91440" marR="91440" marT="45720" marB="45720">
                    <a:lnR w="6668">
                      <a:solidFill>
                        <a:srgbClr val="D8D7CF"/>
                      </a:solidFill>
                      <a:prstDash val="solid"/>
                    </a:lnR>
                    <a:lnB w="6668">
                      <a:solidFill>
                        <a:srgbClr val="D8D7CF"/>
                      </a:solidFill>
                      <a:prstDash val="solid"/>
                    </a:lnB>
                    <a:solidFill>
                      <a:srgbClr val="F0EEE7"/>
                    </a:solidFill>
                  </a:tcPr>
                </a:tc>
                <a:tc>
                  <a:txBody>
                    <a:bodyPr/>
                    <a:lstStyle/>
                    <a:p>
                      <a:r>
                        <a:rPr sz="1650" b="0">
                          <a:solidFill>
                            <a:srgbClr val="182738"/>
                          </a:solidFill>
                          <a:latin typeface="Arial"/>
                          <a:ea typeface="Arial"/>
                          <a:cs typeface="Arial"/>
                        </a:rPr>
                        <a:t>Hash embeddings; synthetic correction-test financial inputs</a:t>
                      </a:r>
                    </a:p>
                  </a:txBody>
                  <a:tcPr marL="91440" marR="91440" marT="45720" marB="45720">
                    <a:lnR w="6668">
                      <a:solidFill>
                        <a:srgbClr val="D8D7CF"/>
                      </a:solidFill>
                      <a:prstDash val="solid"/>
                    </a:lnR>
                    <a:lnB w="6668">
                      <a:solidFill>
                        <a:srgbClr val="D8D7CF"/>
                      </a:solidFill>
                      <a:prstDash val="solid"/>
                    </a:lnB>
                    <a:solidFill>
                      <a:srgbClr val="F0EEE7"/>
                    </a:solidFill>
                  </a:tcPr>
                </a:tc>
              </a:tr>
              <a:tr h="714375">
                <a:tc>
                  <a:txBody>
                    <a:bodyPr/>
                    <a:lstStyle/>
                    <a:p>
                      <a:r>
                        <a:rPr sz="1650" b="0">
                          <a:solidFill>
                            <a:srgbClr val="182738"/>
                          </a:solidFill>
                          <a:latin typeface="Arial"/>
                          <a:ea typeface="Arial"/>
                          <a:cs typeface="Arial"/>
                        </a:rPr>
                        <a:t>NVIDIA Nemotron</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AF8F2"/>
                    </a:solidFill>
                  </a:tcPr>
                </a:tc>
                <a:tc>
                  <a:txBody>
                    <a:bodyPr/>
                    <a:lstStyle/>
                    <a:p>
                      <a:r>
                        <a:rPr sz="1650" b="0">
                          <a:solidFill>
                            <a:srgbClr val="182738"/>
                          </a:solidFill>
                          <a:latin typeface="Arial"/>
                          <a:ea typeface="Arial"/>
                          <a:cs typeface="Arial"/>
                        </a:rPr>
                        <a:t>Genuine hosted calls and native financial tool proposals</a:t>
                      </a:r>
                    </a:p>
                  </a:txBody>
                  <a:tcPr marL="91440" marR="91440" marT="45720" marB="45720">
                    <a:lnR w="6668">
                      <a:solidFill>
                        <a:srgbClr val="D8D7CF"/>
                      </a:solidFill>
                      <a:prstDash val="solid"/>
                    </a:lnR>
                    <a:lnB w="6668">
                      <a:solidFill>
                        <a:srgbClr val="D8D7CF"/>
                      </a:solidFill>
                      <a:prstDash val="solid"/>
                    </a:lnB>
                    <a:solidFill>
                      <a:srgbClr val="FAF8F2"/>
                    </a:solidFill>
                  </a:tcPr>
                </a:tc>
                <a:tc>
                  <a:txBody>
                    <a:bodyPr/>
                    <a:lstStyle/>
                    <a:p>
                      <a:r>
                        <a:rPr sz="1650" b="0">
                          <a:solidFill>
                            <a:srgbClr val="182738"/>
                          </a:solidFill>
                          <a:latin typeface="Arial"/>
                          <a:ea typeface="Arial"/>
                          <a:cs typeface="Arial"/>
                        </a:rPr>
                        <a:t>Partial runs; no accepted completed model briefing</a:t>
                      </a:r>
                    </a:p>
                  </a:txBody>
                  <a:tcPr marL="91440" marR="91440" marT="45720" marB="45720">
                    <a:lnR w="6668">
                      <a:solidFill>
                        <a:srgbClr val="D8D7CF"/>
                      </a:solidFill>
                      <a:prstDash val="solid"/>
                    </a:lnR>
                    <a:lnB w="6668">
                      <a:solidFill>
                        <a:srgbClr val="D8D7CF"/>
                      </a:solidFill>
                      <a:prstDash val="solid"/>
                    </a:lnB>
                    <a:solidFill>
                      <a:srgbClr val="FAF8F2"/>
                    </a:solidFill>
                  </a:tcPr>
                </a:tc>
              </a:tr>
              <a:tr h="714375">
                <a:tc>
                  <a:txBody>
                    <a:bodyPr/>
                    <a:lstStyle/>
                    <a:p>
                      <a:r>
                        <a:rPr sz="1650" b="0">
                          <a:solidFill>
                            <a:srgbClr val="182738"/>
                          </a:solidFill>
                          <a:latin typeface="Arial"/>
                          <a:ea typeface="Arial"/>
                          <a:cs typeface="Arial"/>
                        </a:rPr>
                        <a:t>Nightshift</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0EEE7"/>
                    </a:solidFill>
                  </a:tcPr>
                </a:tc>
                <a:tc>
                  <a:txBody>
                    <a:bodyPr/>
                    <a:lstStyle/>
                    <a:p>
                      <a:r>
                        <a:rPr sz="1650" b="0">
                          <a:solidFill>
                            <a:srgbClr val="182738"/>
                          </a:solidFill>
                          <a:latin typeface="Arial"/>
                          <a:ea typeface="Arial"/>
                          <a:cs typeface="Arial"/>
                        </a:rPr>
                        <a:t>Authenticated NVIDIA inference and native proposal verified</a:t>
                      </a:r>
                    </a:p>
                  </a:txBody>
                  <a:tcPr marL="91440" marR="91440" marT="45720" marB="45720">
                    <a:lnR w="6668">
                      <a:solidFill>
                        <a:srgbClr val="D8D7CF"/>
                      </a:solidFill>
                      <a:prstDash val="solid"/>
                    </a:lnR>
                    <a:lnB w="6668">
                      <a:solidFill>
                        <a:srgbClr val="D8D7CF"/>
                      </a:solidFill>
                      <a:prstDash val="solid"/>
                    </a:lnB>
                    <a:solidFill>
                      <a:srgbClr val="F0EEE7"/>
                    </a:solidFill>
                  </a:tcPr>
                </a:tc>
                <a:tc>
                  <a:txBody>
                    <a:bodyPr/>
                    <a:lstStyle/>
                    <a:p>
                      <a:r>
                        <a:rPr sz="1650" b="0">
                          <a:solidFill>
                            <a:srgbClr val="182738"/>
                          </a:solidFill>
                          <a:latin typeface="Arial"/>
                          <a:ea typeface="Arial"/>
                          <a:cs typeface="Arial"/>
                        </a:rPr>
                        <a:t>Financial proposal rejected; no completed AI briefing</a:t>
                      </a:r>
                    </a:p>
                  </a:txBody>
                  <a:tcPr marL="91440" marR="91440" marT="45720" marB="45720">
                    <a:lnR w="6668">
                      <a:solidFill>
                        <a:srgbClr val="D8D7CF"/>
                      </a:solidFill>
                      <a:prstDash val="solid"/>
                    </a:lnR>
                    <a:lnB w="6668">
                      <a:solidFill>
                        <a:srgbClr val="D8D7CF"/>
                      </a:solidFill>
                      <a:prstDash val="solid"/>
                    </a:lnB>
                    <a:solidFill>
                      <a:srgbClr val="F0EEE7"/>
                    </a:solidFill>
                  </a:tcPr>
                </a:tc>
              </a:tr>
              <a:tr h="714375">
                <a:tc>
                  <a:txBody>
                    <a:bodyPr/>
                    <a:lstStyle/>
                    <a:p>
                      <a:r>
                        <a:rPr sz="1650" b="0">
                          <a:solidFill>
                            <a:srgbClr val="182738"/>
                          </a:solidFill>
                          <a:latin typeface="Arial"/>
                          <a:ea typeface="Arial"/>
                          <a:cs typeface="Arial"/>
                        </a:rPr>
                        <a:t>Cursor</a:t>
                      </a:r>
                    </a:p>
                  </a:txBody>
                  <a:tcPr marL="91440" marR="91440" marT="45720" marB="45720">
                    <a:lnL w="6668">
                      <a:solidFill>
                        <a:srgbClr val="D8D7CF"/>
                      </a:solidFill>
                      <a:prstDash val="solid"/>
                    </a:lnL>
                    <a:lnR w="6668">
                      <a:solidFill>
                        <a:srgbClr val="D8D7CF"/>
                      </a:solidFill>
                      <a:prstDash val="solid"/>
                    </a:lnR>
                    <a:lnB w="6668">
                      <a:solidFill>
                        <a:srgbClr val="D8D7CF"/>
                      </a:solidFill>
                      <a:prstDash val="solid"/>
                    </a:lnB>
                    <a:solidFill>
                      <a:srgbClr val="FAF8F2"/>
                    </a:solidFill>
                  </a:tcPr>
                </a:tc>
                <a:tc>
                  <a:txBody>
                    <a:bodyPr/>
                    <a:lstStyle/>
                    <a:p>
                      <a:r>
                        <a:rPr sz="1650" b="0">
                          <a:solidFill>
                            <a:srgbClr val="182738"/>
                          </a:solidFill>
                          <a:latin typeface="Arial"/>
                          <a:ea typeface="Arial"/>
                          <a:cs typeface="Arial"/>
                        </a:rPr>
                        <a:t>Existing environment preserved for independent review</a:t>
                      </a:r>
                    </a:p>
                  </a:txBody>
                  <a:tcPr marL="91440" marR="91440" marT="45720" marB="45720">
                    <a:lnR w="6668">
                      <a:solidFill>
                        <a:srgbClr val="D8D7CF"/>
                      </a:solidFill>
                      <a:prstDash val="solid"/>
                    </a:lnR>
                    <a:lnB w="6668">
                      <a:solidFill>
                        <a:srgbClr val="D8D7CF"/>
                      </a:solidFill>
                      <a:prstDash val="solid"/>
                    </a:lnB>
                    <a:solidFill>
                      <a:srgbClr val="FAF8F2"/>
                    </a:solidFill>
                  </a:tcPr>
                </a:tc>
                <a:tc>
                  <a:txBody>
                    <a:bodyPr/>
                    <a:lstStyle/>
                    <a:p>
                      <a:r>
                        <a:rPr sz="1650" b="0">
                          <a:solidFill>
                            <a:srgbClr val="182738"/>
                          </a:solidFill>
                          <a:latin typeface="Arial"/>
                          <a:ea typeface="Arial"/>
                          <a:cs typeface="Arial"/>
                        </a:rPr>
                        <a:t>Qualifying human product contribution not documented</a:t>
                      </a:r>
                    </a:p>
                  </a:txBody>
                  <a:tcPr marL="91440" marR="91440" marT="45720" marB="45720">
                    <a:lnR w="6668">
                      <a:solidFill>
                        <a:srgbClr val="D8D7CF"/>
                      </a:solidFill>
                      <a:prstDash val="solid"/>
                    </a:lnR>
                    <a:lnB w="6668">
                      <a:solidFill>
                        <a:srgbClr val="D8D7CF"/>
                      </a:solidFill>
                      <a:prstDash val="solid"/>
                    </a:lnB>
                    <a:solidFill>
                      <a:srgbClr val="FAF8F2"/>
                    </a:solidFill>
                  </a:tcPr>
                </a:tc>
              </a:tr>
            </a:tbl>
          </a:graphicData>
        </a:graphic>
      </p:graphicFrame>
    </p:spTree>
    <p:extLst>
      <p:ext uri="{BB962C8B-B14F-4D97-AF65-F5344CB8AC3E}">
        <p14:creationId xmlns:p14="http://schemas.microsoft.com/office/powerpoint/2010/main" val="180884134"/>
      </p:ext>
    </p:extLst>
  </p:cSld>
</p:sld>
</file>

<file path=ppt/slides/slide6.xml><?xml version="1.0" encoding="utf-8"?>
<p:sld xmlns:p="http://schemas.openxmlformats.org/presentationml/2006/main">
  <p:cSld>
    <p:bg>
      <p:bgPr>
        <a:solidFill xmlns:a="http://schemas.openxmlformats.org/drawingml/2006/main">
          <a:srgbClr val="FAF8F2"/>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18973DC-C84E-4CDC-A272-26F5E3821300}"/>
              </a:ext>
            </a:extLst>
          </p:cNvPr>
          <p:cNvSpPr>
            <a:spLocks xmlns:a="http://schemas.openxmlformats.org/drawingml/2006/main" noGrp="1"/>
          </p:cNvSpPr>
          <p:nvPr/>
        </p:nvSpPr>
        <p:spPr>
          <a:xfrm xmlns:a="http://schemas.openxmlformats.org/drawingml/2006/main">
            <a:off x="685800" y="4762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82738"/>
                </a:solidFill>
                <a:latin typeface="Arial"/>
                <a:ea typeface="Arial"/>
                <a:cs typeface="Arial"/>
              </a:defRPr>
            </a:defPPr>
            <a:lvl1pPr>
              <a:defRPr sz="3300" b="1">
                <a:solidFill>
                  <a:srgbClr val="182738"/>
                </a:solidFill>
                <a:latin typeface="Arial"/>
                <a:ea typeface="Arial"/>
                <a:cs typeface="Arial"/>
              </a:defRPr>
            </a:lvl1pPr>
            <a:lvl2pPr>
              <a:defRPr sz="3300" b="1">
                <a:solidFill>
                  <a:srgbClr val="182738"/>
                </a:solidFill>
                <a:latin typeface="Arial"/>
                <a:ea typeface="Arial"/>
                <a:cs typeface="Arial"/>
              </a:defRPr>
            </a:lvl2pPr>
            <a:lvl3pPr>
              <a:defRPr sz="3300" b="1">
                <a:solidFill>
                  <a:srgbClr val="182738"/>
                </a:solidFill>
                <a:latin typeface="Arial"/>
                <a:ea typeface="Arial"/>
                <a:cs typeface="Arial"/>
              </a:defRPr>
            </a:lvl3pPr>
            <a:lvl4pPr>
              <a:defRPr sz="3300" b="1">
                <a:solidFill>
                  <a:srgbClr val="182738"/>
                </a:solidFill>
                <a:latin typeface="Arial"/>
                <a:ea typeface="Arial"/>
                <a:cs typeface="Arial"/>
              </a:defRPr>
            </a:lvl4pPr>
            <a:lvl5pPr>
              <a:defRPr sz="3300" b="1">
                <a:solidFill>
                  <a:srgbClr val="182738"/>
                </a:solidFill>
                <a:latin typeface="Arial"/>
                <a:ea typeface="Arial"/>
                <a:cs typeface="Arial"/>
              </a:defRPr>
            </a:lvl5pPr>
            <a:lvl6pPr>
              <a:defRPr sz="3300" b="1">
                <a:solidFill>
                  <a:srgbClr val="182738"/>
                </a:solidFill>
                <a:latin typeface="Arial"/>
                <a:ea typeface="Arial"/>
                <a:cs typeface="Arial"/>
              </a:defRPr>
            </a:lvl6pPr>
            <a:lvl7pPr>
              <a:defRPr sz="3300" b="1">
                <a:solidFill>
                  <a:srgbClr val="182738"/>
                </a:solidFill>
                <a:latin typeface="Arial"/>
                <a:ea typeface="Arial"/>
                <a:cs typeface="Arial"/>
              </a:defRPr>
            </a:lvl7pPr>
            <a:lvl8pPr>
              <a:defRPr sz="3300" b="1">
                <a:solidFill>
                  <a:srgbClr val="182738"/>
                </a:solidFill>
                <a:latin typeface="Arial"/>
                <a:ea typeface="Arial"/>
                <a:cs typeface="Arial"/>
              </a:defRPr>
            </a:lvl8pPr>
            <a:lvl9pPr>
              <a:defRPr sz="3300" b="1">
                <a:solidFill>
                  <a:srgbClr val="182738"/>
                </a:solidFill>
                <a:latin typeface="Arial"/>
                <a:ea typeface="Arial"/>
                <a:cs typeface="Arial"/>
              </a:defRPr>
            </a:lvl9pPr>
          </a:lstStyle>
          <a:p xmlns:a="http://schemas.openxmlformats.org/drawingml/2006/main">
            <a:pPr>
              <a:defRPr sz="3300" b="1">
                <a:solidFill>
                  <a:srgbClr val="182738"/>
                </a:solidFill>
                <a:latin typeface="Arial"/>
                <a:ea typeface="Arial"/>
                <a:cs typeface="Arial"/>
              </a:defRPr>
            </a:pPr>
            <a:r>
              <a:rPr sz="3300" b="1">
                <a:solidFill>
                  <a:srgbClr val="182738"/>
                </a:solidFill>
                <a:latin typeface="Arial"/>
                <a:ea typeface="Arial"/>
                <a:cs typeface="Arial"/>
              </a:rPr>
              <a:t>Actions required before submission</a:t>
            </a:r>
          </a:p>
        </p:txBody>
      </p:sp>
      <p:sp>
        <p:nvSpPr>
          <p:cNvPr id="2" name="">
            <a:extLst xmlns:a="http://schemas.openxmlformats.org/drawingml/2006/main">
              <a:ext uri="{FF2B5EF4-FFF2-40B4-BE49-F238E27FC236}">
                <a16:creationId xmlns:a16="http://schemas.microsoft.com/office/drawing/2014/main" id="{E8B1D71D-7BCA-4F3B-ADE1-B341C9B53821}"/>
              </a:ext>
            </a:extLst>
          </p:cNvPr>
          <p:cNvSpPr>
            <a:spLocks xmlns:a="http://schemas.openxmlformats.org/drawingml/2006/main" noGrp="1"/>
          </p:cNvSpPr>
          <p:nvPr/>
        </p:nvSpPr>
        <p:spPr>
          <a:xfrm xmlns:a="http://schemas.openxmlformats.org/drawingml/2006/main">
            <a:off x="685800" y="6343650"/>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0">
                <a:solidFill>
                  <a:srgbClr val="526170"/>
                </a:solidFill>
                <a:latin typeface="Arial"/>
                <a:ea typeface="Arial"/>
                <a:cs typeface="Arial"/>
              </a:defRPr>
            </a:defPPr>
            <a:lvl1pPr>
              <a:defRPr sz="1275" b="0">
                <a:solidFill>
                  <a:srgbClr val="526170"/>
                </a:solidFill>
                <a:latin typeface="Arial"/>
                <a:ea typeface="Arial"/>
                <a:cs typeface="Arial"/>
              </a:defRPr>
            </a:lvl1pPr>
            <a:lvl2pPr>
              <a:defRPr sz="1275" b="0">
                <a:solidFill>
                  <a:srgbClr val="526170"/>
                </a:solidFill>
                <a:latin typeface="Arial"/>
                <a:ea typeface="Arial"/>
                <a:cs typeface="Arial"/>
              </a:defRPr>
            </a:lvl2pPr>
            <a:lvl3pPr>
              <a:defRPr sz="1275" b="0">
                <a:solidFill>
                  <a:srgbClr val="526170"/>
                </a:solidFill>
                <a:latin typeface="Arial"/>
                <a:ea typeface="Arial"/>
                <a:cs typeface="Arial"/>
              </a:defRPr>
            </a:lvl3pPr>
            <a:lvl4pPr>
              <a:defRPr sz="1275" b="0">
                <a:solidFill>
                  <a:srgbClr val="526170"/>
                </a:solidFill>
                <a:latin typeface="Arial"/>
                <a:ea typeface="Arial"/>
                <a:cs typeface="Arial"/>
              </a:defRPr>
            </a:lvl4pPr>
            <a:lvl5pPr>
              <a:defRPr sz="1275" b="0">
                <a:solidFill>
                  <a:srgbClr val="526170"/>
                </a:solidFill>
                <a:latin typeface="Arial"/>
                <a:ea typeface="Arial"/>
                <a:cs typeface="Arial"/>
              </a:defRPr>
            </a:lvl5pPr>
            <a:lvl6pPr>
              <a:defRPr sz="1275" b="0">
                <a:solidFill>
                  <a:srgbClr val="526170"/>
                </a:solidFill>
                <a:latin typeface="Arial"/>
                <a:ea typeface="Arial"/>
                <a:cs typeface="Arial"/>
              </a:defRPr>
            </a:lvl6pPr>
            <a:lvl7pPr>
              <a:defRPr sz="1275" b="0">
                <a:solidFill>
                  <a:srgbClr val="526170"/>
                </a:solidFill>
                <a:latin typeface="Arial"/>
                <a:ea typeface="Arial"/>
                <a:cs typeface="Arial"/>
              </a:defRPr>
            </a:lvl7pPr>
            <a:lvl8pPr>
              <a:defRPr sz="1275" b="0">
                <a:solidFill>
                  <a:srgbClr val="526170"/>
                </a:solidFill>
                <a:latin typeface="Arial"/>
                <a:ea typeface="Arial"/>
                <a:cs typeface="Arial"/>
              </a:defRPr>
            </a:lvl8pPr>
            <a:lvl9pPr>
              <a:defRPr sz="1275" b="0">
                <a:solidFill>
                  <a:srgbClr val="526170"/>
                </a:solidFill>
                <a:latin typeface="Arial"/>
                <a:ea typeface="Arial"/>
                <a:cs typeface="Arial"/>
              </a:defRPr>
            </a:lvl9pPr>
          </a:lstStyle>
          <a:p xmlns:a="http://schemas.openxmlformats.org/drawingml/2006/main">
            <a:pPr>
              <a:defRPr sz="1275" b="0">
                <a:solidFill>
                  <a:srgbClr val="526170"/>
                </a:solidFill>
                <a:latin typeface="Arial"/>
                <a:ea typeface="Arial"/>
                <a:cs typeface="Arial"/>
              </a:defRPr>
            </a:pPr>
            <a:r>
              <a:rPr sz="1275" b="0">
                <a:solidFill>
                  <a:srgbClr val="526170"/>
                </a:solidFill>
                <a:latin typeface="Arial"/>
                <a:ea typeface="Arial"/>
                <a:cs typeface="Arial"/>
              </a:rPr>
              <a:t>INTERNAL REVIEW  •  Complete AI investigation remains unmet  •  6/6</a:t>
            </a:r>
          </a:p>
        </p:txBody>
      </p:sp>
      <p:sp>
        <p:nvSpPr>
          <p:cNvPr id="3" name="">
            <a:extLst xmlns:a="http://schemas.openxmlformats.org/drawingml/2006/main">
              <a:ext uri="{FF2B5EF4-FFF2-40B4-BE49-F238E27FC236}">
                <a16:creationId xmlns:a16="http://schemas.microsoft.com/office/drawing/2014/main" id="{793FADBC-AEF9-4F7F-8C8F-B2157B01A6AA}"/>
              </a:ext>
            </a:extLst>
          </p:cNvPr>
          <p:cNvSpPr>
            <a:spLocks xmlns:a="http://schemas.openxmlformats.org/drawingml/2006/main" noGrp="1"/>
          </p:cNvSpPr>
          <p:nvPr/>
        </p:nvSpPr>
        <p:spPr>
          <a:xfrm xmlns:a="http://schemas.openxmlformats.org/drawingml/2006/main">
            <a:off x="685800" y="1438275"/>
            <a:ext cx="47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E842F"/>
                </a:solidFill>
                <a:latin typeface="Arial"/>
                <a:ea typeface="Arial"/>
                <a:cs typeface="Arial"/>
              </a:defRPr>
            </a:defPPr>
            <a:lvl1pPr>
              <a:defRPr sz="2400" b="1">
                <a:solidFill>
                  <a:srgbClr val="AE842F"/>
                </a:solidFill>
                <a:latin typeface="Arial"/>
                <a:ea typeface="Arial"/>
                <a:cs typeface="Arial"/>
              </a:defRPr>
            </a:lvl1pPr>
            <a:lvl2pPr>
              <a:defRPr sz="2400" b="1">
                <a:solidFill>
                  <a:srgbClr val="AE842F"/>
                </a:solidFill>
                <a:latin typeface="Arial"/>
                <a:ea typeface="Arial"/>
                <a:cs typeface="Arial"/>
              </a:defRPr>
            </a:lvl2pPr>
            <a:lvl3pPr>
              <a:defRPr sz="2400" b="1">
                <a:solidFill>
                  <a:srgbClr val="AE842F"/>
                </a:solidFill>
                <a:latin typeface="Arial"/>
                <a:ea typeface="Arial"/>
                <a:cs typeface="Arial"/>
              </a:defRPr>
            </a:lvl3pPr>
            <a:lvl4pPr>
              <a:defRPr sz="2400" b="1">
                <a:solidFill>
                  <a:srgbClr val="AE842F"/>
                </a:solidFill>
                <a:latin typeface="Arial"/>
                <a:ea typeface="Arial"/>
                <a:cs typeface="Arial"/>
              </a:defRPr>
            </a:lvl4pPr>
            <a:lvl5pPr>
              <a:defRPr sz="2400" b="1">
                <a:solidFill>
                  <a:srgbClr val="AE842F"/>
                </a:solidFill>
                <a:latin typeface="Arial"/>
                <a:ea typeface="Arial"/>
                <a:cs typeface="Arial"/>
              </a:defRPr>
            </a:lvl5pPr>
            <a:lvl6pPr>
              <a:defRPr sz="2400" b="1">
                <a:solidFill>
                  <a:srgbClr val="AE842F"/>
                </a:solidFill>
                <a:latin typeface="Arial"/>
                <a:ea typeface="Arial"/>
                <a:cs typeface="Arial"/>
              </a:defRPr>
            </a:lvl6pPr>
            <a:lvl7pPr>
              <a:defRPr sz="2400" b="1">
                <a:solidFill>
                  <a:srgbClr val="AE842F"/>
                </a:solidFill>
                <a:latin typeface="Arial"/>
                <a:ea typeface="Arial"/>
                <a:cs typeface="Arial"/>
              </a:defRPr>
            </a:lvl7pPr>
            <a:lvl8pPr>
              <a:defRPr sz="2400" b="1">
                <a:solidFill>
                  <a:srgbClr val="AE842F"/>
                </a:solidFill>
                <a:latin typeface="Arial"/>
                <a:ea typeface="Arial"/>
                <a:cs typeface="Arial"/>
              </a:defRPr>
            </a:lvl8pPr>
            <a:lvl9pPr>
              <a:defRPr sz="2400" b="1">
                <a:solidFill>
                  <a:srgbClr val="AE842F"/>
                </a:solidFill>
                <a:latin typeface="Arial"/>
                <a:ea typeface="Arial"/>
                <a:cs typeface="Arial"/>
              </a:defRPr>
            </a:lvl9pPr>
          </a:lstStyle>
          <a:p xmlns:a="http://schemas.openxmlformats.org/drawingml/2006/main">
            <a:pPr>
              <a:defRPr sz="2400" b="1">
                <a:solidFill>
                  <a:srgbClr val="AE842F"/>
                </a:solidFill>
                <a:latin typeface="Arial"/>
                <a:ea typeface="Arial"/>
                <a:cs typeface="Arial"/>
              </a:defRPr>
            </a:pPr>
            <a:r>
              <a:rPr sz="2400" b="1">
                <a:solidFill>
                  <a:srgbClr val="AE842F"/>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E9C311BB-6AE9-481D-9A87-93A8C8E38D69}"/>
              </a:ext>
            </a:extLst>
          </p:cNvPr>
          <p:cNvSpPr>
            <a:spLocks xmlns:a="http://schemas.openxmlformats.org/drawingml/2006/main" noGrp="1"/>
          </p:cNvSpPr>
          <p:nvPr/>
        </p:nvSpPr>
        <p:spPr>
          <a:xfrm xmlns:a="http://schemas.openxmlformats.org/drawingml/2006/main">
            <a:off x="1333500" y="1438275"/>
            <a:ext cx="10172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82738"/>
                </a:solidFill>
                <a:latin typeface="Arial"/>
                <a:ea typeface="Arial"/>
                <a:cs typeface="Arial"/>
              </a:defRPr>
            </a:defPPr>
            <a:lvl1pPr>
              <a:defRPr sz="2100" b="1">
                <a:solidFill>
                  <a:srgbClr val="182738"/>
                </a:solidFill>
                <a:latin typeface="Arial"/>
                <a:ea typeface="Arial"/>
                <a:cs typeface="Arial"/>
              </a:defRPr>
            </a:lvl1pPr>
            <a:lvl2pPr>
              <a:defRPr sz="2100" b="1">
                <a:solidFill>
                  <a:srgbClr val="182738"/>
                </a:solidFill>
                <a:latin typeface="Arial"/>
                <a:ea typeface="Arial"/>
                <a:cs typeface="Arial"/>
              </a:defRPr>
            </a:lvl2pPr>
            <a:lvl3pPr>
              <a:defRPr sz="2100" b="1">
                <a:solidFill>
                  <a:srgbClr val="182738"/>
                </a:solidFill>
                <a:latin typeface="Arial"/>
                <a:ea typeface="Arial"/>
                <a:cs typeface="Arial"/>
              </a:defRPr>
            </a:lvl3pPr>
            <a:lvl4pPr>
              <a:defRPr sz="2100" b="1">
                <a:solidFill>
                  <a:srgbClr val="182738"/>
                </a:solidFill>
                <a:latin typeface="Arial"/>
                <a:ea typeface="Arial"/>
                <a:cs typeface="Arial"/>
              </a:defRPr>
            </a:lvl4pPr>
            <a:lvl5pPr>
              <a:defRPr sz="2100" b="1">
                <a:solidFill>
                  <a:srgbClr val="182738"/>
                </a:solidFill>
                <a:latin typeface="Arial"/>
                <a:ea typeface="Arial"/>
                <a:cs typeface="Arial"/>
              </a:defRPr>
            </a:lvl5pPr>
            <a:lvl6pPr>
              <a:defRPr sz="2100" b="1">
                <a:solidFill>
                  <a:srgbClr val="182738"/>
                </a:solidFill>
                <a:latin typeface="Arial"/>
                <a:ea typeface="Arial"/>
                <a:cs typeface="Arial"/>
              </a:defRPr>
            </a:lvl6pPr>
            <a:lvl7pPr>
              <a:defRPr sz="2100" b="1">
                <a:solidFill>
                  <a:srgbClr val="182738"/>
                </a:solidFill>
                <a:latin typeface="Arial"/>
                <a:ea typeface="Arial"/>
                <a:cs typeface="Arial"/>
              </a:defRPr>
            </a:lvl7pPr>
            <a:lvl8pPr>
              <a:defRPr sz="2100" b="1">
                <a:solidFill>
                  <a:srgbClr val="182738"/>
                </a:solidFill>
                <a:latin typeface="Arial"/>
                <a:ea typeface="Arial"/>
                <a:cs typeface="Arial"/>
              </a:defRPr>
            </a:lvl8pPr>
            <a:lvl9pPr>
              <a:defRPr sz="2100" b="1">
                <a:solidFill>
                  <a:srgbClr val="182738"/>
                </a:solidFill>
                <a:latin typeface="Arial"/>
                <a:ea typeface="Arial"/>
                <a:cs typeface="Arial"/>
              </a:defRPr>
            </a:lvl9pPr>
          </a:lstStyle>
          <a:p xmlns:a="http://schemas.openxmlformats.org/drawingml/2006/main">
            <a:pPr>
              <a:defRPr sz="2100" b="1">
                <a:solidFill>
                  <a:srgbClr val="182738"/>
                </a:solidFill>
                <a:latin typeface="Arial"/>
                <a:ea typeface="Arial"/>
                <a:cs typeface="Arial"/>
              </a:defRPr>
            </a:pPr>
            <a:r>
              <a:rPr sz="2100" b="1">
                <a:solidFill>
                  <a:srgbClr val="182738"/>
                </a:solidFill>
                <a:latin typeface="Arial"/>
                <a:ea typeface="Arial"/>
                <a:cs typeface="Arial"/>
              </a:rPr>
              <a:t>Complete a valid model financial investigation</a:t>
            </a:r>
          </a:p>
        </p:txBody>
      </p:sp>
      <p:sp>
        <p:nvSpPr>
          <p:cNvPr id="5" name="">
            <a:extLst xmlns:a="http://schemas.openxmlformats.org/drawingml/2006/main">
              <a:ext uri="{FF2B5EF4-FFF2-40B4-BE49-F238E27FC236}">
                <a16:creationId xmlns:a16="http://schemas.microsoft.com/office/drawing/2014/main" id="{293BEDCD-C507-40CA-99CF-897FF9F1A2B0}"/>
              </a:ext>
            </a:extLst>
          </p:cNvPr>
          <p:cNvSpPr>
            <a:spLocks xmlns:a="http://schemas.openxmlformats.org/drawingml/2006/main" noGrp="1"/>
          </p:cNvSpPr>
          <p:nvPr/>
        </p:nvSpPr>
        <p:spPr>
          <a:xfrm xmlns:a="http://schemas.openxmlformats.org/drawingml/2006/main">
            <a:off x="1333500" y="1885950"/>
            <a:ext cx="101727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170"/>
                </a:solidFill>
                <a:latin typeface="Arial"/>
                <a:ea typeface="Arial"/>
                <a:cs typeface="Arial"/>
              </a:defRPr>
            </a:defPPr>
            <a:lvl1pPr>
              <a:defRPr sz="1800" b="0">
                <a:solidFill>
                  <a:srgbClr val="526170"/>
                </a:solidFill>
                <a:latin typeface="Arial"/>
                <a:ea typeface="Arial"/>
                <a:cs typeface="Arial"/>
              </a:defRPr>
            </a:lvl1pPr>
            <a:lvl2pPr>
              <a:defRPr sz="1800" b="0">
                <a:solidFill>
                  <a:srgbClr val="526170"/>
                </a:solidFill>
                <a:latin typeface="Arial"/>
                <a:ea typeface="Arial"/>
                <a:cs typeface="Arial"/>
              </a:defRPr>
            </a:lvl2pPr>
            <a:lvl3pPr>
              <a:defRPr sz="1800" b="0">
                <a:solidFill>
                  <a:srgbClr val="526170"/>
                </a:solidFill>
                <a:latin typeface="Arial"/>
                <a:ea typeface="Arial"/>
                <a:cs typeface="Arial"/>
              </a:defRPr>
            </a:lvl3pPr>
            <a:lvl4pPr>
              <a:defRPr sz="1800" b="0">
                <a:solidFill>
                  <a:srgbClr val="526170"/>
                </a:solidFill>
                <a:latin typeface="Arial"/>
                <a:ea typeface="Arial"/>
                <a:cs typeface="Arial"/>
              </a:defRPr>
            </a:lvl4pPr>
            <a:lvl5pPr>
              <a:defRPr sz="1800" b="0">
                <a:solidFill>
                  <a:srgbClr val="526170"/>
                </a:solidFill>
                <a:latin typeface="Arial"/>
                <a:ea typeface="Arial"/>
                <a:cs typeface="Arial"/>
              </a:defRPr>
            </a:lvl5pPr>
            <a:lvl6pPr>
              <a:defRPr sz="1800" b="0">
                <a:solidFill>
                  <a:srgbClr val="526170"/>
                </a:solidFill>
                <a:latin typeface="Arial"/>
                <a:ea typeface="Arial"/>
                <a:cs typeface="Arial"/>
              </a:defRPr>
            </a:lvl6pPr>
            <a:lvl7pPr>
              <a:defRPr sz="1800" b="0">
                <a:solidFill>
                  <a:srgbClr val="526170"/>
                </a:solidFill>
                <a:latin typeface="Arial"/>
                <a:ea typeface="Arial"/>
                <a:cs typeface="Arial"/>
              </a:defRPr>
            </a:lvl7pPr>
            <a:lvl8pPr>
              <a:defRPr sz="1800" b="0">
                <a:solidFill>
                  <a:srgbClr val="526170"/>
                </a:solidFill>
                <a:latin typeface="Arial"/>
                <a:ea typeface="Arial"/>
                <a:cs typeface="Arial"/>
              </a:defRPr>
            </a:lvl8pPr>
            <a:lvl9pPr>
              <a:defRPr sz="1800" b="0">
                <a:solidFill>
                  <a:srgbClr val="526170"/>
                </a:solidFill>
                <a:latin typeface="Arial"/>
                <a:ea typeface="Arial"/>
                <a:cs typeface="Arial"/>
              </a:defRPr>
            </a:lvl9pPr>
          </a:lstStyle>
          <a:p xmlns:a="http://schemas.openxmlformats.org/drawingml/2006/main">
            <a:pPr>
              <a:defRPr sz="1800" b="0">
                <a:solidFill>
                  <a:srgbClr val="526170"/>
                </a:solidFill>
                <a:latin typeface="Arial"/>
                <a:ea typeface="Arial"/>
                <a:cs typeface="Arial"/>
              </a:defRPr>
            </a:pPr>
            <a:r>
              <a:rPr sz="1800" b="0">
                <a:solidFill>
                  <a:srgbClr val="526170"/>
                </a:solidFill>
                <a:latin typeface="Arial"/>
                <a:ea typeface="Arial"/>
                <a:cs typeface="Arial"/>
              </a:rPr>
              <a:t>A valid proposal and full investigation remain future work. No further model retries now.</a:t>
            </a:r>
          </a:p>
        </p:txBody>
      </p:sp>
      <p:sp>
        <p:nvSpPr>
          <p:cNvPr id="6" name="">
            <a:extLst xmlns:a="http://schemas.openxmlformats.org/drawingml/2006/main">
              <a:ext uri="{FF2B5EF4-FFF2-40B4-BE49-F238E27FC236}">
                <a16:creationId xmlns:a16="http://schemas.microsoft.com/office/drawing/2014/main" id="{9A244880-5996-4AD3-8584-6001E2C59E04}"/>
              </a:ext>
            </a:extLst>
          </p:cNvPr>
          <p:cNvSpPr>
            <a:spLocks xmlns:a="http://schemas.openxmlformats.org/drawingml/2006/main" noGrp="1"/>
          </p:cNvSpPr>
          <p:nvPr/>
        </p:nvSpPr>
        <p:spPr>
          <a:xfrm xmlns:a="http://schemas.openxmlformats.org/drawingml/2006/main">
            <a:off x="685800" y="2533650"/>
            <a:ext cx="47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E842F"/>
                </a:solidFill>
                <a:latin typeface="Arial"/>
                <a:ea typeface="Arial"/>
                <a:cs typeface="Arial"/>
              </a:defRPr>
            </a:defPPr>
            <a:lvl1pPr>
              <a:defRPr sz="2400" b="1">
                <a:solidFill>
                  <a:srgbClr val="AE842F"/>
                </a:solidFill>
                <a:latin typeface="Arial"/>
                <a:ea typeface="Arial"/>
                <a:cs typeface="Arial"/>
              </a:defRPr>
            </a:lvl1pPr>
            <a:lvl2pPr>
              <a:defRPr sz="2400" b="1">
                <a:solidFill>
                  <a:srgbClr val="AE842F"/>
                </a:solidFill>
                <a:latin typeface="Arial"/>
                <a:ea typeface="Arial"/>
                <a:cs typeface="Arial"/>
              </a:defRPr>
            </a:lvl2pPr>
            <a:lvl3pPr>
              <a:defRPr sz="2400" b="1">
                <a:solidFill>
                  <a:srgbClr val="AE842F"/>
                </a:solidFill>
                <a:latin typeface="Arial"/>
                <a:ea typeface="Arial"/>
                <a:cs typeface="Arial"/>
              </a:defRPr>
            </a:lvl3pPr>
            <a:lvl4pPr>
              <a:defRPr sz="2400" b="1">
                <a:solidFill>
                  <a:srgbClr val="AE842F"/>
                </a:solidFill>
                <a:latin typeface="Arial"/>
                <a:ea typeface="Arial"/>
                <a:cs typeface="Arial"/>
              </a:defRPr>
            </a:lvl4pPr>
            <a:lvl5pPr>
              <a:defRPr sz="2400" b="1">
                <a:solidFill>
                  <a:srgbClr val="AE842F"/>
                </a:solidFill>
                <a:latin typeface="Arial"/>
                <a:ea typeface="Arial"/>
                <a:cs typeface="Arial"/>
              </a:defRPr>
            </a:lvl5pPr>
            <a:lvl6pPr>
              <a:defRPr sz="2400" b="1">
                <a:solidFill>
                  <a:srgbClr val="AE842F"/>
                </a:solidFill>
                <a:latin typeface="Arial"/>
                <a:ea typeface="Arial"/>
                <a:cs typeface="Arial"/>
              </a:defRPr>
            </a:lvl6pPr>
            <a:lvl7pPr>
              <a:defRPr sz="2400" b="1">
                <a:solidFill>
                  <a:srgbClr val="AE842F"/>
                </a:solidFill>
                <a:latin typeface="Arial"/>
                <a:ea typeface="Arial"/>
                <a:cs typeface="Arial"/>
              </a:defRPr>
            </a:lvl7pPr>
            <a:lvl8pPr>
              <a:defRPr sz="2400" b="1">
                <a:solidFill>
                  <a:srgbClr val="AE842F"/>
                </a:solidFill>
                <a:latin typeface="Arial"/>
                <a:ea typeface="Arial"/>
                <a:cs typeface="Arial"/>
              </a:defRPr>
            </a:lvl8pPr>
            <a:lvl9pPr>
              <a:defRPr sz="2400" b="1">
                <a:solidFill>
                  <a:srgbClr val="AE842F"/>
                </a:solidFill>
                <a:latin typeface="Arial"/>
                <a:ea typeface="Arial"/>
                <a:cs typeface="Arial"/>
              </a:defRPr>
            </a:lvl9pPr>
          </a:lstStyle>
          <a:p xmlns:a="http://schemas.openxmlformats.org/drawingml/2006/main">
            <a:pPr>
              <a:defRPr sz="2400" b="1">
                <a:solidFill>
                  <a:srgbClr val="AE842F"/>
                </a:solidFill>
                <a:latin typeface="Arial"/>
                <a:ea typeface="Arial"/>
                <a:cs typeface="Arial"/>
              </a:defRPr>
            </a:pPr>
            <a:r>
              <a:rPr sz="2400" b="1">
                <a:solidFill>
                  <a:srgbClr val="AE842F"/>
                </a:solidFill>
                <a:latin typeface="Arial"/>
                <a:ea typeface="Arial"/>
                <a:cs typeface="Arial"/>
              </a:rPr>
              <a:t>2</a:t>
            </a:r>
          </a:p>
        </p:txBody>
      </p:sp>
      <p:sp>
        <p:nvSpPr>
          <p:cNvPr id="7" name="">
            <a:extLst xmlns:a="http://schemas.openxmlformats.org/drawingml/2006/main">
              <a:ext uri="{FF2B5EF4-FFF2-40B4-BE49-F238E27FC236}">
                <a16:creationId xmlns:a16="http://schemas.microsoft.com/office/drawing/2014/main" id="{2E358051-A5D3-4A86-81D0-FD99C39AFFC1}"/>
              </a:ext>
            </a:extLst>
          </p:cNvPr>
          <p:cNvSpPr>
            <a:spLocks xmlns:a="http://schemas.openxmlformats.org/drawingml/2006/main" noGrp="1"/>
          </p:cNvSpPr>
          <p:nvPr/>
        </p:nvSpPr>
        <p:spPr>
          <a:xfrm xmlns:a="http://schemas.openxmlformats.org/drawingml/2006/main">
            <a:off x="1333500" y="2533650"/>
            <a:ext cx="10172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82738"/>
                </a:solidFill>
                <a:latin typeface="Arial"/>
                <a:ea typeface="Arial"/>
                <a:cs typeface="Arial"/>
              </a:defRPr>
            </a:defPPr>
            <a:lvl1pPr>
              <a:defRPr sz="2100" b="1">
                <a:solidFill>
                  <a:srgbClr val="182738"/>
                </a:solidFill>
                <a:latin typeface="Arial"/>
                <a:ea typeface="Arial"/>
                <a:cs typeface="Arial"/>
              </a:defRPr>
            </a:lvl1pPr>
            <a:lvl2pPr>
              <a:defRPr sz="2100" b="1">
                <a:solidFill>
                  <a:srgbClr val="182738"/>
                </a:solidFill>
                <a:latin typeface="Arial"/>
                <a:ea typeface="Arial"/>
                <a:cs typeface="Arial"/>
              </a:defRPr>
            </a:lvl2pPr>
            <a:lvl3pPr>
              <a:defRPr sz="2100" b="1">
                <a:solidFill>
                  <a:srgbClr val="182738"/>
                </a:solidFill>
                <a:latin typeface="Arial"/>
                <a:ea typeface="Arial"/>
                <a:cs typeface="Arial"/>
              </a:defRPr>
            </a:lvl3pPr>
            <a:lvl4pPr>
              <a:defRPr sz="2100" b="1">
                <a:solidFill>
                  <a:srgbClr val="182738"/>
                </a:solidFill>
                <a:latin typeface="Arial"/>
                <a:ea typeface="Arial"/>
                <a:cs typeface="Arial"/>
              </a:defRPr>
            </a:lvl4pPr>
            <a:lvl5pPr>
              <a:defRPr sz="2100" b="1">
                <a:solidFill>
                  <a:srgbClr val="182738"/>
                </a:solidFill>
                <a:latin typeface="Arial"/>
                <a:ea typeface="Arial"/>
                <a:cs typeface="Arial"/>
              </a:defRPr>
            </a:lvl5pPr>
            <a:lvl6pPr>
              <a:defRPr sz="2100" b="1">
                <a:solidFill>
                  <a:srgbClr val="182738"/>
                </a:solidFill>
                <a:latin typeface="Arial"/>
                <a:ea typeface="Arial"/>
                <a:cs typeface="Arial"/>
              </a:defRPr>
            </a:lvl6pPr>
            <a:lvl7pPr>
              <a:defRPr sz="2100" b="1">
                <a:solidFill>
                  <a:srgbClr val="182738"/>
                </a:solidFill>
                <a:latin typeface="Arial"/>
                <a:ea typeface="Arial"/>
                <a:cs typeface="Arial"/>
              </a:defRPr>
            </a:lvl7pPr>
            <a:lvl8pPr>
              <a:defRPr sz="2100" b="1">
                <a:solidFill>
                  <a:srgbClr val="182738"/>
                </a:solidFill>
                <a:latin typeface="Arial"/>
                <a:ea typeface="Arial"/>
                <a:cs typeface="Arial"/>
              </a:defRPr>
            </a:lvl8pPr>
            <a:lvl9pPr>
              <a:defRPr sz="2100" b="1">
                <a:solidFill>
                  <a:srgbClr val="182738"/>
                </a:solidFill>
                <a:latin typeface="Arial"/>
                <a:ea typeface="Arial"/>
                <a:cs typeface="Arial"/>
              </a:defRPr>
            </a:lvl9pPr>
          </a:lstStyle>
          <a:p xmlns:a="http://schemas.openxmlformats.org/drawingml/2006/main">
            <a:pPr>
              <a:defRPr sz="2100" b="1">
                <a:solidFill>
                  <a:srgbClr val="182738"/>
                </a:solidFill>
                <a:latin typeface="Arial"/>
                <a:ea typeface="Arial"/>
                <a:cs typeface="Arial"/>
              </a:defRPr>
            </a:pPr>
            <a:r>
              <a:rPr sz="2100" b="1">
                <a:solidFill>
                  <a:srgbClr val="182738"/>
                </a:solidFill>
                <a:latin typeface="Arial"/>
                <a:ea typeface="Arial"/>
                <a:cs typeface="Arial"/>
              </a:rPr>
              <a:t>Confirm judge access to the merged application</a:t>
            </a:r>
          </a:p>
        </p:txBody>
      </p:sp>
      <p:sp>
        <p:nvSpPr>
          <p:cNvPr id="8" name="">
            <a:extLst xmlns:a="http://schemas.openxmlformats.org/drawingml/2006/main">
              <a:ext uri="{FF2B5EF4-FFF2-40B4-BE49-F238E27FC236}">
                <a16:creationId xmlns:a16="http://schemas.microsoft.com/office/drawing/2014/main" id="{E520CEEF-FE3C-427E-8592-07DCAAE8CEB1}"/>
              </a:ext>
            </a:extLst>
          </p:cNvPr>
          <p:cNvSpPr>
            <a:spLocks xmlns:a="http://schemas.openxmlformats.org/drawingml/2006/main" noGrp="1"/>
          </p:cNvSpPr>
          <p:nvPr/>
        </p:nvSpPr>
        <p:spPr>
          <a:xfrm xmlns:a="http://schemas.openxmlformats.org/drawingml/2006/main">
            <a:off x="1333500" y="2981325"/>
            <a:ext cx="101727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170"/>
                </a:solidFill>
                <a:latin typeface="Arial"/>
                <a:ea typeface="Arial"/>
                <a:cs typeface="Arial"/>
              </a:defRPr>
            </a:defPPr>
            <a:lvl1pPr>
              <a:defRPr sz="1800" b="0">
                <a:solidFill>
                  <a:srgbClr val="526170"/>
                </a:solidFill>
                <a:latin typeface="Arial"/>
                <a:ea typeface="Arial"/>
                <a:cs typeface="Arial"/>
              </a:defRPr>
            </a:lvl1pPr>
            <a:lvl2pPr>
              <a:defRPr sz="1800" b="0">
                <a:solidFill>
                  <a:srgbClr val="526170"/>
                </a:solidFill>
                <a:latin typeface="Arial"/>
                <a:ea typeface="Arial"/>
                <a:cs typeface="Arial"/>
              </a:defRPr>
            </a:lvl2pPr>
            <a:lvl3pPr>
              <a:defRPr sz="1800" b="0">
                <a:solidFill>
                  <a:srgbClr val="526170"/>
                </a:solidFill>
                <a:latin typeface="Arial"/>
                <a:ea typeface="Arial"/>
                <a:cs typeface="Arial"/>
              </a:defRPr>
            </a:lvl3pPr>
            <a:lvl4pPr>
              <a:defRPr sz="1800" b="0">
                <a:solidFill>
                  <a:srgbClr val="526170"/>
                </a:solidFill>
                <a:latin typeface="Arial"/>
                <a:ea typeface="Arial"/>
                <a:cs typeface="Arial"/>
              </a:defRPr>
            </a:lvl4pPr>
            <a:lvl5pPr>
              <a:defRPr sz="1800" b="0">
                <a:solidFill>
                  <a:srgbClr val="526170"/>
                </a:solidFill>
                <a:latin typeface="Arial"/>
                <a:ea typeface="Arial"/>
                <a:cs typeface="Arial"/>
              </a:defRPr>
            </a:lvl5pPr>
            <a:lvl6pPr>
              <a:defRPr sz="1800" b="0">
                <a:solidFill>
                  <a:srgbClr val="526170"/>
                </a:solidFill>
                <a:latin typeface="Arial"/>
                <a:ea typeface="Arial"/>
                <a:cs typeface="Arial"/>
              </a:defRPr>
            </a:lvl6pPr>
            <a:lvl7pPr>
              <a:defRPr sz="1800" b="0">
                <a:solidFill>
                  <a:srgbClr val="526170"/>
                </a:solidFill>
                <a:latin typeface="Arial"/>
                <a:ea typeface="Arial"/>
                <a:cs typeface="Arial"/>
              </a:defRPr>
            </a:lvl7pPr>
            <a:lvl8pPr>
              <a:defRPr sz="1800" b="0">
                <a:solidFill>
                  <a:srgbClr val="526170"/>
                </a:solidFill>
                <a:latin typeface="Arial"/>
                <a:ea typeface="Arial"/>
                <a:cs typeface="Arial"/>
              </a:defRPr>
            </a:lvl8pPr>
            <a:lvl9pPr>
              <a:defRPr sz="1800" b="0">
                <a:solidFill>
                  <a:srgbClr val="526170"/>
                </a:solidFill>
                <a:latin typeface="Arial"/>
                <a:ea typeface="Arial"/>
                <a:cs typeface="Arial"/>
              </a:defRPr>
            </a:lvl9pPr>
          </a:lstStyle>
          <a:p xmlns:a="http://schemas.openxmlformats.org/drawingml/2006/main">
            <a:pPr>
              <a:defRPr sz="1800" b="0">
                <a:solidFill>
                  <a:srgbClr val="526170"/>
                </a:solidFill>
                <a:latin typeface="Arial"/>
                <a:ea typeface="Arial"/>
                <a:cs typeface="Arial"/>
              </a:defRPr>
            </a:pPr>
            <a:r>
              <a:rPr sz="1800" b="0">
                <a:solidFill>
                  <a:srgbClr val="526170"/>
                </a:solidFill>
                <a:latin typeface="Arial"/>
                <a:ea typeface="Arial"/>
                <a:cs typeface="Arial"/>
              </a:rPr>
              <a:t>PRs 7–13 are merged. Public main is 0a6f6fb. Verify judge access and links.</a:t>
            </a:r>
          </a:p>
        </p:txBody>
      </p:sp>
      <p:sp>
        <p:nvSpPr>
          <p:cNvPr id="9" name="">
            <a:extLst xmlns:a="http://schemas.openxmlformats.org/drawingml/2006/main">
              <a:ext uri="{FF2B5EF4-FFF2-40B4-BE49-F238E27FC236}">
                <a16:creationId xmlns:a16="http://schemas.microsoft.com/office/drawing/2014/main" id="{E54E1DA3-61EE-4098-973F-83B0AF903671}"/>
              </a:ext>
            </a:extLst>
          </p:cNvPr>
          <p:cNvSpPr>
            <a:spLocks xmlns:a="http://schemas.openxmlformats.org/drawingml/2006/main" noGrp="1"/>
          </p:cNvSpPr>
          <p:nvPr/>
        </p:nvSpPr>
        <p:spPr>
          <a:xfrm xmlns:a="http://schemas.openxmlformats.org/drawingml/2006/main">
            <a:off x="685800" y="3629025"/>
            <a:ext cx="47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E842F"/>
                </a:solidFill>
                <a:latin typeface="Arial"/>
                <a:ea typeface="Arial"/>
                <a:cs typeface="Arial"/>
              </a:defRPr>
            </a:defPPr>
            <a:lvl1pPr>
              <a:defRPr sz="2400" b="1">
                <a:solidFill>
                  <a:srgbClr val="AE842F"/>
                </a:solidFill>
                <a:latin typeface="Arial"/>
                <a:ea typeface="Arial"/>
                <a:cs typeface="Arial"/>
              </a:defRPr>
            </a:lvl1pPr>
            <a:lvl2pPr>
              <a:defRPr sz="2400" b="1">
                <a:solidFill>
                  <a:srgbClr val="AE842F"/>
                </a:solidFill>
                <a:latin typeface="Arial"/>
                <a:ea typeface="Arial"/>
                <a:cs typeface="Arial"/>
              </a:defRPr>
            </a:lvl2pPr>
            <a:lvl3pPr>
              <a:defRPr sz="2400" b="1">
                <a:solidFill>
                  <a:srgbClr val="AE842F"/>
                </a:solidFill>
                <a:latin typeface="Arial"/>
                <a:ea typeface="Arial"/>
                <a:cs typeface="Arial"/>
              </a:defRPr>
            </a:lvl3pPr>
            <a:lvl4pPr>
              <a:defRPr sz="2400" b="1">
                <a:solidFill>
                  <a:srgbClr val="AE842F"/>
                </a:solidFill>
                <a:latin typeface="Arial"/>
                <a:ea typeface="Arial"/>
                <a:cs typeface="Arial"/>
              </a:defRPr>
            </a:lvl4pPr>
            <a:lvl5pPr>
              <a:defRPr sz="2400" b="1">
                <a:solidFill>
                  <a:srgbClr val="AE842F"/>
                </a:solidFill>
                <a:latin typeface="Arial"/>
                <a:ea typeface="Arial"/>
                <a:cs typeface="Arial"/>
              </a:defRPr>
            </a:lvl5pPr>
            <a:lvl6pPr>
              <a:defRPr sz="2400" b="1">
                <a:solidFill>
                  <a:srgbClr val="AE842F"/>
                </a:solidFill>
                <a:latin typeface="Arial"/>
                <a:ea typeface="Arial"/>
                <a:cs typeface="Arial"/>
              </a:defRPr>
            </a:lvl6pPr>
            <a:lvl7pPr>
              <a:defRPr sz="2400" b="1">
                <a:solidFill>
                  <a:srgbClr val="AE842F"/>
                </a:solidFill>
                <a:latin typeface="Arial"/>
                <a:ea typeface="Arial"/>
                <a:cs typeface="Arial"/>
              </a:defRPr>
            </a:lvl7pPr>
            <a:lvl8pPr>
              <a:defRPr sz="2400" b="1">
                <a:solidFill>
                  <a:srgbClr val="AE842F"/>
                </a:solidFill>
                <a:latin typeface="Arial"/>
                <a:ea typeface="Arial"/>
                <a:cs typeface="Arial"/>
              </a:defRPr>
            </a:lvl8pPr>
            <a:lvl9pPr>
              <a:defRPr sz="2400" b="1">
                <a:solidFill>
                  <a:srgbClr val="AE842F"/>
                </a:solidFill>
                <a:latin typeface="Arial"/>
                <a:ea typeface="Arial"/>
                <a:cs typeface="Arial"/>
              </a:defRPr>
            </a:lvl9pPr>
          </a:lstStyle>
          <a:p xmlns:a="http://schemas.openxmlformats.org/drawingml/2006/main">
            <a:pPr>
              <a:defRPr sz="2400" b="1">
                <a:solidFill>
                  <a:srgbClr val="AE842F"/>
                </a:solidFill>
                <a:latin typeface="Arial"/>
                <a:ea typeface="Arial"/>
                <a:cs typeface="Arial"/>
              </a:defRPr>
            </a:pPr>
            <a:r>
              <a:rPr sz="2400" b="1">
                <a:solidFill>
                  <a:srgbClr val="AE842F"/>
                </a:solidFill>
                <a:latin typeface="Arial"/>
                <a:ea typeface="Arial"/>
                <a:cs typeface="Arial"/>
              </a:rPr>
              <a:t>3</a:t>
            </a:r>
          </a:p>
        </p:txBody>
      </p:sp>
      <p:sp>
        <p:nvSpPr>
          <p:cNvPr id="10" name="">
            <a:extLst xmlns:a="http://schemas.openxmlformats.org/drawingml/2006/main">
              <a:ext uri="{FF2B5EF4-FFF2-40B4-BE49-F238E27FC236}">
                <a16:creationId xmlns:a16="http://schemas.microsoft.com/office/drawing/2014/main" id="{9D3C19AA-0743-4A87-ABDE-CE48B52966EE}"/>
              </a:ext>
            </a:extLst>
          </p:cNvPr>
          <p:cNvSpPr>
            <a:spLocks xmlns:a="http://schemas.openxmlformats.org/drawingml/2006/main" noGrp="1"/>
          </p:cNvSpPr>
          <p:nvPr/>
        </p:nvSpPr>
        <p:spPr>
          <a:xfrm xmlns:a="http://schemas.openxmlformats.org/drawingml/2006/main">
            <a:off x="1333500" y="3629025"/>
            <a:ext cx="10172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82738"/>
                </a:solidFill>
                <a:latin typeface="Arial"/>
                <a:ea typeface="Arial"/>
                <a:cs typeface="Arial"/>
              </a:defRPr>
            </a:defPPr>
            <a:lvl1pPr>
              <a:defRPr sz="2100" b="1">
                <a:solidFill>
                  <a:srgbClr val="182738"/>
                </a:solidFill>
                <a:latin typeface="Arial"/>
                <a:ea typeface="Arial"/>
                <a:cs typeface="Arial"/>
              </a:defRPr>
            </a:lvl1pPr>
            <a:lvl2pPr>
              <a:defRPr sz="2100" b="1">
                <a:solidFill>
                  <a:srgbClr val="182738"/>
                </a:solidFill>
                <a:latin typeface="Arial"/>
                <a:ea typeface="Arial"/>
                <a:cs typeface="Arial"/>
              </a:defRPr>
            </a:lvl2pPr>
            <a:lvl3pPr>
              <a:defRPr sz="2100" b="1">
                <a:solidFill>
                  <a:srgbClr val="182738"/>
                </a:solidFill>
                <a:latin typeface="Arial"/>
                <a:ea typeface="Arial"/>
                <a:cs typeface="Arial"/>
              </a:defRPr>
            </a:lvl3pPr>
            <a:lvl4pPr>
              <a:defRPr sz="2100" b="1">
                <a:solidFill>
                  <a:srgbClr val="182738"/>
                </a:solidFill>
                <a:latin typeface="Arial"/>
                <a:ea typeface="Arial"/>
                <a:cs typeface="Arial"/>
              </a:defRPr>
            </a:lvl4pPr>
            <a:lvl5pPr>
              <a:defRPr sz="2100" b="1">
                <a:solidFill>
                  <a:srgbClr val="182738"/>
                </a:solidFill>
                <a:latin typeface="Arial"/>
                <a:ea typeface="Arial"/>
                <a:cs typeface="Arial"/>
              </a:defRPr>
            </a:lvl5pPr>
            <a:lvl6pPr>
              <a:defRPr sz="2100" b="1">
                <a:solidFill>
                  <a:srgbClr val="182738"/>
                </a:solidFill>
                <a:latin typeface="Arial"/>
                <a:ea typeface="Arial"/>
                <a:cs typeface="Arial"/>
              </a:defRPr>
            </a:lvl6pPr>
            <a:lvl7pPr>
              <a:defRPr sz="2100" b="1">
                <a:solidFill>
                  <a:srgbClr val="182738"/>
                </a:solidFill>
                <a:latin typeface="Arial"/>
                <a:ea typeface="Arial"/>
                <a:cs typeface="Arial"/>
              </a:defRPr>
            </a:lvl7pPr>
            <a:lvl8pPr>
              <a:defRPr sz="2100" b="1">
                <a:solidFill>
                  <a:srgbClr val="182738"/>
                </a:solidFill>
                <a:latin typeface="Arial"/>
                <a:ea typeface="Arial"/>
                <a:cs typeface="Arial"/>
              </a:defRPr>
            </a:lvl8pPr>
            <a:lvl9pPr>
              <a:defRPr sz="2100" b="1">
                <a:solidFill>
                  <a:srgbClr val="182738"/>
                </a:solidFill>
                <a:latin typeface="Arial"/>
                <a:ea typeface="Arial"/>
                <a:cs typeface="Arial"/>
              </a:defRPr>
            </a:lvl9pPr>
          </a:lstStyle>
          <a:p xmlns:a="http://schemas.openxmlformats.org/drawingml/2006/main">
            <a:pPr>
              <a:defRPr sz="2100" b="1">
                <a:solidFill>
                  <a:srgbClr val="182738"/>
                </a:solidFill>
                <a:latin typeface="Arial"/>
                <a:ea typeface="Arial"/>
                <a:cs typeface="Arial"/>
              </a:defRPr>
            </a:pPr>
            <a:r>
              <a:rPr sz="2100" b="1">
                <a:solidFill>
                  <a:srgbClr val="182738"/>
                </a:solidFill>
                <a:latin typeface="Arial"/>
                <a:ea typeface="Arial"/>
                <a:cs typeface="Arial"/>
              </a:rPr>
              <a:t>Review the actual demonstration assets</a:t>
            </a:r>
          </a:p>
        </p:txBody>
      </p:sp>
      <p:sp>
        <p:nvSpPr>
          <p:cNvPr id="11" name="">
            <a:extLst xmlns:a="http://schemas.openxmlformats.org/drawingml/2006/main">
              <a:ext uri="{FF2B5EF4-FFF2-40B4-BE49-F238E27FC236}">
                <a16:creationId xmlns:a16="http://schemas.microsoft.com/office/drawing/2014/main" id="{F4BF83F9-9062-41A8-8415-2E7896D65066}"/>
              </a:ext>
            </a:extLst>
          </p:cNvPr>
          <p:cNvSpPr>
            <a:spLocks xmlns:a="http://schemas.openxmlformats.org/drawingml/2006/main" noGrp="1"/>
          </p:cNvSpPr>
          <p:nvPr/>
        </p:nvSpPr>
        <p:spPr>
          <a:xfrm xmlns:a="http://schemas.openxmlformats.org/drawingml/2006/main">
            <a:off x="1333500" y="4076700"/>
            <a:ext cx="101727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170"/>
                </a:solidFill>
                <a:latin typeface="Arial"/>
                <a:ea typeface="Arial"/>
                <a:cs typeface="Arial"/>
              </a:defRPr>
            </a:defPPr>
            <a:lvl1pPr>
              <a:defRPr sz="1800" b="0">
                <a:solidFill>
                  <a:srgbClr val="526170"/>
                </a:solidFill>
                <a:latin typeface="Arial"/>
                <a:ea typeface="Arial"/>
                <a:cs typeface="Arial"/>
              </a:defRPr>
            </a:lvl1pPr>
            <a:lvl2pPr>
              <a:defRPr sz="1800" b="0">
                <a:solidFill>
                  <a:srgbClr val="526170"/>
                </a:solidFill>
                <a:latin typeface="Arial"/>
                <a:ea typeface="Arial"/>
                <a:cs typeface="Arial"/>
              </a:defRPr>
            </a:lvl2pPr>
            <a:lvl3pPr>
              <a:defRPr sz="1800" b="0">
                <a:solidFill>
                  <a:srgbClr val="526170"/>
                </a:solidFill>
                <a:latin typeface="Arial"/>
                <a:ea typeface="Arial"/>
                <a:cs typeface="Arial"/>
              </a:defRPr>
            </a:lvl3pPr>
            <a:lvl4pPr>
              <a:defRPr sz="1800" b="0">
                <a:solidFill>
                  <a:srgbClr val="526170"/>
                </a:solidFill>
                <a:latin typeface="Arial"/>
                <a:ea typeface="Arial"/>
                <a:cs typeface="Arial"/>
              </a:defRPr>
            </a:lvl4pPr>
            <a:lvl5pPr>
              <a:defRPr sz="1800" b="0">
                <a:solidFill>
                  <a:srgbClr val="526170"/>
                </a:solidFill>
                <a:latin typeface="Arial"/>
                <a:ea typeface="Arial"/>
                <a:cs typeface="Arial"/>
              </a:defRPr>
            </a:lvl5pPr>
            <a:lvl6pPr>
              <a:defRPr sz="1800" b="0">
                <a:solidFill>
                  <a:srgbClr val="526170"/>
                </a:solidFill>
                <a:latin typeface="Arial"/>
                <a:ea typeface="Arial"/>
                <a:cs typeface="Arial"/>
              </a:defRPr>
            </a:lvl6pPr>
            <a:lvl7pPr>
              <a:defRPr sz="1800" b="0">
                <a:solidFill>
                  <a:srgbClr val="526170"/>
                </a:solidFill>
                <a:latin typeface="Arial"/>
                <a:ea typeface="Arial"/>
                <a:cs typeface="Arial"/>
              </a:defRPr>
            </a:lvl7pPr>
            <a:lvl8pPr>
              <a:defRPr sz="1800" b="0">
                <a:solidFill>
                  <a:srgbClr val="526170"/>
                </a:solidFill>
                <a:latin typeface="Arial"/>
                <a:ea typeface="Arial"/>
                <a:cs typeface="Arial"/>
              </a:defRPr>
            </a:lvl8pPr>
            <a:lvl9pPr>
              <a:defRPr sz="1800" b="0">
                <a:solidFill>
                  <a:srgbClr val="526170"/>
                </a:solidFill>
                <a:latin typeface="Arial"/>
                <a:ea typeface="Arial"/>
                <a:cs typeface="Arial"/>
              </a:defRPr>
            </a:lvl9pPr>
          </a:lstStyle>
          <a:p xmlns:a="http://schemas.openxmlformats.org/drawingml/2006/main">
            <a:pPr>
              <a:defRPr sz="1800" b="0">
                <a:solidFill>
                  <a:srgbClr val="526170"/>
                </a:solidFill>
                <a:latin typeface="Arial"/>
                <a:ea typeface="Arial"/>
                <a:cs typeface="Arial"/>
              </a:defRPr>
            </a:pPr>
            <a:r>
              <a:rPr sz="1800" b="0">
                <a:solidFill>
                  <a:srgbClr val="526170"/>
                </a:solidFill>
                <a:latin typeface="Arial"/>
                <a:ea typeface="Arial"/>
                <a:cs typeface="Arial"/>
              </a:rPr>
              <a:t>Review the updated video and deck. Prepared HackOS draft includes uploaded media.</a:t>
            </a:r>
          </a:p>
        </p:txBody>
      </p:sp>
      <p:sp>
        <p:nvSpPr>
          <p:cNvPr id="12" name="">
            <a:extLst xmlns:a="http://schemas.openxmlformats.org/drawingml/2006/main">
              <a:ext uri="{FF2B5EF4-FFF2-40B4-BE49-F238E27FC236}">
                <a16:creationId xmlns:a16="http://schemas.microsoft.com/office/drawing/2014/main" id="{4999E053-1A2F-46EC-B929-C8BE7F09B21A}"/>
              </a:ext>
            </a:extLst>
          </p:cNvPr>
          <p:cNvSpPr>
            <a:spLocks xmlns:a="http://schemas.openxmlformats.org/drawingml/2006/main" noGrp="1"/>
          </p:cNvSpPr>
          <p:nvPr/>
        </p:nvSpPr>
        <p:spPr>
          <a:xfrm xmlns:a="http://schemas.openxmlformats.org/drawingml/2006/main">
            <a:off x="685800" y="4724400"/>
            <a:ext cx="47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E842F"/>
                </a:solidFill>
                <a:latin typeface="Arial"/>
                <a:ea typeface="Arial"/>
                <a:cs typeface="Arial"/>
              </a:defRPr>
            </a:defPPr>
            <a:lvl1pPr>
              <a:defRPr sz="2400" b="1">
                <a:solidFill>
                  <a:srgbClr val="AE842F"/>
                </a:solidFill>
                <a:latin typeface="Arial"/>
                <a:ea typeface="Arial"/>
                <a:cs typeface="Arial"/>
              </a:defRPr>
            </a:lvl1pPr>
            <a:lvl2pPr>
              <a:defRPr sz="2400" b="1">
                <a:solidFill>
                  <a:srgbClr val="AE842F"/>
                </a:solidFill>
                <a:latin typeface="Arial"/>
                <a:ea typeface="Arial"/>
                <a:cs typeface="Arial"/>
              </a:defRPr>
            </a:lvl2pPr>
            <a:lvl3pPr>
              <a:defRPr sz="2400" b="1">
                <a:solidFill>
                  <a:srgbClr val="AE842F"/>
                </a:solidFill>
                <a:latin typeface="Arial"/>
                <a:ea typeface="Arial"/>
                <a:cs typeface="Arial"/>
              </a:defRPr>
            </a:lvl3pPr>
            <a:lvl4pPr>
              <a:defRPr sz="2400" b="1">
                <a:solidFill>
                  <a:srgbClr val="AE842F"/>
                </a:solidFill>
                <a:latin typeface="Arial"/>
                <a:ea typeface="Arial"/>
                <a:cs typeface="Arial"/>
              </a:defRPr>
            </a:lvl4pPr>
            <a:lvl5pPr>
              <a:defRPr sz="2400" b="1">
                <a:solidFill>
                  <a:srgbClr val="AE842F"/>
                </a:solidFill>
                <a:latin typeface="Arial"/>
                <a:ea typeface="Arial"/>
                <a:cs typeface="Arial"/>
              </a:defRPr>
            </a:lvl5pPr>
            <a:lvl6pPr>
              <a:defRPr sz="2400" b="1">
                <a:solidFill>
                  <a:srgbClr val="AE842F"/>
                </a:solidFill>
                <a:latin typeface="Arial"/>
                <a:ea typeface="Arial"/>
                <a:cs typeface="Arial"/>
              </a:defRPr>
            </a:lvl6pPr>
            <a:lvl7pPr>
              <a:defRPr sz="2400" b="1">
                <a:solidFill>
                  <a:srgbClr val="AE842F"/>
                </a:solidFill>
                <a:latin typeface="Arial"/>
                <a:ea typeface="Arial"/>
                <a:cs typeface="Arial"/>
              </a:defRPr>
            </a:lvl7pPr>
            <a:lvl8pPr>
              <a:defRPr sz="2400" b="1">
                <a:solidFill>
                  <a:srgbClr val="AE842F"/>
                </a:solidFill>
                <a:latin typeface="Arial"/>
                <a:ea typeface="Arial"/>
                <a:cs typeface="Arial"/>
              </a:defRPr>
            </a:lvl8pPr>
            <a:lvl9pPr>
              <a:defRPr sz="2400" b="1">
                <a:solidFill>
                  <a:srgbClr val="AE842F"/>
                </a:solidFill>
                <a:latin typeface="Arial"/>
                <a:ea typeface="Arial"/>
                <a:cs typeface="Arial"/>
              </a:defRPr>
            </a:lvl9pPr>
          </a:lstStyle>
          <a:p xmlns:a="http://schemas.openxmlformats.org/drawingml/2006/main">
            <a:pPr>
              <a:defRPr sz="2400" b="1">
                <a:solidFill>
                  <a:srgbClr val="AE842F"/>
                </a:solidFill>
                <a:latin typeface="Arial"/>
                <a:ea typeface="Arial"/>
                <a:cs typeface="Arial"/>
              </a:defRPr>
            </a:pPr>
            <a:r>
              <a:rPr sz="2400" b="1">
                <a:solidFill>
                  <a:srgbClr val="AE842F"/>
                </a:solidFill>
                <a:latin typeface="Arial"/>
                <a:ea typeface="Arial"/>
                <a:cs typeface="Arial"/>
              </a:rPr>
              <a:t>4</a:t>
            </a:r>
          </a:p>
        </p:txBody>
      </p:sp>
      <p:sp>
        <p:nvSpPr>
          <p:cNvPr id="13" name="">
            <a:extLst xmlns:a="http://schemas.openxmlformats.org/drawingml/2006/main">
              <a:ext uri="{FF2B5EF4-FFF2-40B4-BE49-F238E27FC236}">
                <a16:creationId xmlns:a16="http://schemas.microsoft.com/office/drawing/2014/main" id="{43C41939-04BD-4A21-9A8D-7C643CE228B4}"/>
              </a:ext>
            </a:extLst>
          </p:cNvPr>
          <p:cNvSpPr>
            <a:spLocks xmlns:a="http://schemas.openxmlformats.org/drawingml/2006/main" noGrp="1"/>
          </p:cNvSpPr>
          <p:nvPr/>
        </p:nvSpPr>
        <p:spPr>
          <a:xfrm xmlns:a="http://schemas.openxmlformats.org/drawingml/2006/main">
            <a:off x="1333500" y="4724400"/>
            <a:ext cx="10172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82738"/>
                </a:solidFill>
                <a:latin typeface="Arial"/>
                <a:ea typeface="Arial"/>
                <a:cs typeface="Arial"/>
              </a:defRPr>
            </a:defPPr>
            <a:lvl1pPr>
              <a:defRPr sz="2100" b="1">
                <a:solidFill>
                  <a:srgbClr val="182738"/>
                </a:solidFill>
                <a:latin typeface="Arial"/>
                <a:ea typeface="Arial"/>
                <a:cs typeface="Arial"/>
              </a:defRPr>
            </a:lvl1pPr>
            <a:lvl2pPr>
              <a:defRPr sz="2100" b="1">
                <a:solidFill>
                  <a:srgbClr val="182738"/>
                </a:solidFill>
                <a:latin typeface="Arial"/>
                <a:ea typeface="Arial"/>
                <a:cs typeface="Arial"/>
              </a:defRPr>
            </a:lvl2pPr>
            <a:lvl3pPr>
              <a:defRPr sz="2100" b="1">
                <a:solidFill>
                  <a:srgbClr val="182738"/>
                </a:solidFill>
                <a:latin typeface="Arial"/>
                <a:ea typeface="Arial"/>
                <a:cs typeface="Arial"/>
              </a:defRPr>
            </a:lvl3pPr>
            <a:lvl4pPr>
              <a:defRPr sz="2100" b="1">
                <a:solidFill>
                  <a:srgbClr val="182738"/>
                </a:solidFill>
                <a:latin typeface="Arial"/>
                <a:ea typeface="Arial"/>
                <a:cs typeface="Arial"/>
              </a:defRPr>
            </a:lvl4pPr>
            <a:lvl5pPr>
              <a:defRPr sz="2100" b="1">
                <a:solidFill>
                  <a:srgbClr val="182738"/>
                </a:solidFill>
                <a:latin typeface="Arial"/>
                <a:ea typeface="Arial"/>
                <a:cs typeface="Arial"/>
              </a:defRPr>
            </a:lvl5pPr>
            <a:lvl6pPr>
              <a:defRPr sz="2100" b="1">
                <a:solidFill>
                  <a:srgbClr val="182738"/>
                </a:solidFill>
                <a:latin typeface="Arial"/>
                <a:ea typeface="Arial"/>
                <a:cs typeface="Arial"/>
              </a:defRPr>
            </a:lvl6pPr>
            <a:lvl7pPr>
              <a:defRPr sz="2100" b="1">
                <a:solidFill>
                  <a:srgbClr val="182738"/>
                </a:solidFill>
                <a:latin typeface="Arial"/>
                <a:ea typeface="Arial"/>
                <a:cs typeface="Arial"/>
              </a:defRPr>
            </a:lvl7pPr>
            <a:lvl8pPr>
              <a:defRPr sz="2100" b="1">
                <a:solidFill>
                  <a:srgbClr val="182738"/>
                </a:solidFill>
                <a:latin typeface="Arial"/>
                <a:ea typeface="Arial"/>
                <a:cs typeface="Arial"/>
              </a:defRPr>
            </a:lvl8pPr>
            <a:lvl9pPr>
              <a:defRPr sz="2100" b="1">
                <a:solidFill>
                  <a:srgbClr val="182738"/>
                </a:solidFill>
                <a:latin typeface="Arial"/>
                <a:ea typeface="Arial"/>
                <a:cs typeface="Arial"/>
              </a:defRPr>
            </a:lvl9pPr>
          </a:lstStyle>
          <a:p xmlns:a="http://schemas.openxmlformats.org/drawingml/2006/main">
            <a:pPr>
              <a:defRPr sz="2100" b="1">
                <a:solidFill>
                  <a:srgbClr val="182738"/>
                </a:solidFill>
                <a:latin typeface="Arial"/>
                <a:ea typeface="Arial"/>
                <a:cs typeface="Arial"/>
              </a:defRPr>
            </a:pPr>
            <a:r>
              <a:rPr sz="2100" b="1">
                <a:solidFill>
                  <a:srgbClr val="182738"/>
                </a:solidFill>
                <a:latin typeface="Arial"/>
                <a:ea typeface="Arial"/>
                <a:cs typeface="Arial"/>
              </a:rPr>
              <a:t>Verify final submission details</a:t>
            </a:r>
          </a:p>
        </p:txBody>
      </p:sp>
      <p:sp>
        <p:nvSpPr>
          <p:cNvPr id="14" name="">
            <a:extLst xmlns:a="http://schemas.openxmlformats.org/drawingml/2006/main">
              <a:ext uri="{FF2B5EF4-FFF2-40B4-BE49-F238E27FC236}">
                <a16:creationId xmlns:a16="http://schemas.microsoft.com/office/drawing/2014/main" id="{E5BBD462-582D-40F5-8F04-5E264D19C5D5}"/>
              </a:ext>
            </a:extLst>
          </p:cNvPr>
          <p:cNvSpPr>
            <a:spLocks xmlns:a="http://schemas.openxmlformats.org/drawingml/2006/main" noGrp="1"/>
          </p:cNvSpPr>
          <p:nvPr/>
        </p:nvSpPr>
        <p:spPr>
          <a:xfrm xmlns:a="http://schemas.openxmlformats.org/drawingml/2006/main">
            <a:off x="1333500" y="5172075"/>
            <a:ext cx="101727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170"/>
                </a:solidFill>
                <a:latin typeface="Arial"/>
                <a:ea typeface="Arial"/>
                <a:cs typeface="Arial"/>
              </a:defRPr>
            </a:defPPr>
            <a:lvl1pPr>
              <a:defRPr sz="1800" b="0">
                <a:solidFill>
                  <a:srgbClr val="526170"/>
                </a:solidFill>
                <a:latin typeface="Arial"/>
                <a:ea typeface="Arial"/>
                <a:cs typeface="Arial"/>
              </a:defRPr>
            </a:lvl1pPr>
            <a:lvl2pPr>
              <a:defRPr sz="1800" b="0">
                <a:solidFill>
                  <a:srgbClr val="526170"/>
                </a:solidFill>
                <a:latin typeface="Arial"/>
                <a:ea typeface="Arial"/>
                <a:cs typeface="Arial"/>
              </a:defRPr>
            </a:lvl2pPr>
            <a:lvl3pPr>
              <a:defRPr sz="1800" b="0">
                <a:solidFill>
                  <a:srgbClr val="526170"/>
                </a:solidFill>
                <a:latin typeface="Arial"/>
                <a:ea typeface="Arial"/>
                <a:cs typeface="Arial"/>
              </a:defRPr>
            </a:lvl3pPr>
            <a:lvl4pPr>
              <a:defRPr sz="1800" b="0">
                <a:solidFill>
                  <a:srgbClr val="526170"/>
                </a:solidFill>
                <a:latin typeface="Arial"/>
                <a:ea typeface="Arial"/>
                <a:cs typeface="Arial"/>
              </a:defRPr>
            </a:lvl4pPr>
            <a:lvl5pPr>
              <a:defRPr sz="1800" b="0">
                <a:solidFill>
                  <a:srgbClr val="526170"/>
                </a:solidFill>
                <a:latin typeface="Arial"/>
                <a:ea typeface="Arial"/>
                <a:cs typeface="Arial"/>
              </a:defRPr>
            </a:lvl5pPr>
            <a:lvl6pPr>
              <a:defRPr sz="1800" b="0">
                <a:solidFill>
                  <a:srgbClr val="526170"/>
                </a:solidFill>
                <a:latin typeface="Arial"/>
                <a:ea typeface="Arial"/>
                <a:cs typeface="Arial"/>
              </a:defRPr>
            </a:lvl6pPr>
            <a:lvl7pPr>
              <a:defRPr sz="1800" b="0">
                <a:solidFill>
                  <a:srgbClr val="526170"/>
                </a:solidFill>
                <a:latin typeface="Arial"/>
                <a:ea typeface="Arial"/>
                <a:cs typeface="Arial"/>
              </a:defRPr>
            </a:lvl7pPr>
            <a:lvl8pPr>
              <a:defRPr sz="1800" b="0">
                <a:solidFill>
                  <a:srgbClr val="526170"/>
                </a:solidFill>
                <a:latin typeface="Arial"/>
                <a:ea typeface="Arial"/>
                <a:cs typeface="Arial"/>
              </a:defRPr>
            </a:lvl8pPr>
            <a:lvl9pPr>
              <a:defRPr sz="1800" b="0">
                <a:solidFill>
                  <a:srgbClr val="526170"/>
                </a:solidFill>
                <a:latin typeface="Arial"/>
                <a:ea typeface="Arial"/>
                <a:cs typeface="Arial"/>
              </a:defRPr>
            </a:lvl9pPr>
          </a:lstStyle>
          <a:p xmlns:a="http://schemas.openxmlformats.org/drawingml/2006/main">
            <a:pPr>
              <a:defRPr sz="1800" b="0">
                <a:solidFill>
                  <a:srgbClr val="526170"/>
                </a:solidFill>
                <a:latin typeface="Arial"/>
                <a:ea typeface="Arial"/>
                <a:cs typeface="Arial"/>
              </a:defRPr>
            </a:pPr>
            <a:r>
              <a:rPr sz="1800" b="0">
                <a:solidFill>
                  <a:srgbClr val="526170"/>
                </a:solidFill>
                <a:latin typeface="Arial"/>
                <a:ea typeface="Arial"/>
                <a:cs typeface="Arial"/>
              </a:rPr>
              <a:t>Solo roster: Amari. Check disclosures and links. Final submission still requires lead approval.</a:t>
            </a:r>
          </a:p>
        </p:txBody>
      </p:sp>
    </p:spTree>
    <p:extLst>
      <p:ext uri="{BB962C8B-B14F-4D97-AF65-F5344CB8AC3E}">
        <p14:creationId xmlns:p14="http://schemas.microsoft.com/office/powerpoint/2010/main" val="1254773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2026-10-27T17:27:04.5580000Z</dcterms:created>
  <dcterms:modified xsi:type="dcterms:W3CDTF">2026-10-27T17:27:04.5580000Z</dcterms:modified>
</coreProperties>
</file>
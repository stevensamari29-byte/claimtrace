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4b4532d5f43c4" /><Relationship Type="http://schemas.openxmlformats.org/officeDocument/2006/relationships/extended-properties" Target="/docProps/app.xml" Id="Raa86a2f64a7c4cc6" /><Relationship Type="http://schemas.openxmlformats.org/officeDocument/2006/relationships/officeDocument" Target="/ppt/presentation.xml" Id="Rff4ff5dfce1549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84ba658a6146a6"/>
  </p:sldMasterIdLst>
  <p:notesMasterIdLst>
    <p:notesMasterId xmlns:r="http://schemas.openxmlformats.org/officeDocument/2006/relationships" r:id="Ra34169c4f7cc42ab"/>
  </p:notesMasterIdLst>
  <p:sldIdLst>
    <p:sldId xmlns:r="http://schemas.openxmlformats.org/officeDocument/2006/relationships" id="256" r:id="Rb7f4774b5aa748eb"/>
    <p:sldId xmlns:r="http://schemas.openxmlformats.org/officeDocument/2006/relationships" id="257" r:id="R4300bba969e5495c"/>
    <p:sldId xmlns:r="http://schemas.openxmlformats.org/officeDocument/2006/relationships" id="258" r:id="Rbb5a3b3765ed41aa"/>
    <p:sldId xmlns:r="http://schemas.openxmlformats.org/officeDocument/2006/relationships" id="259" r:id="Rcfd68f046f074a4b"/>
    <p:sldId xmlns:r="http://schemas.openxmlformats.org/officeDocument/2006/relationships" id="260" r:id="R604b549aadb54f4a"/>
    <p:sldId xmlns:r="http://schemas.openxmlformats.org/officeDocument/2006/relationships" id="261" r:id="Rb7e8490b1b8443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d0e02414634769" /><Relationship Type="http://schemas.openxmlformats.org/officeDocument/2006/relationships/slideMaster" Target="/ppt/slideMasters/slideMaster1.xml" Id="R7d84ba658a6146a6" /><Relationship Type="http://schemas.openxmlformats.org/officeDocument/2006/relationships/notesMaster" Target="/ppt/notesMasters/notesMaster1.xml" Id="Ra34169c4f7cc42ab" /><Relationship Type="http://schemas.openxmlformats.org/officeDocument/2006/relationships/presProps" Target="/ppt/presProps.xml" Id="Rf387551db3014c0b" /><Relationship Type="http://schemas.openxmlformats.org/officeDocument/2006/relationships/tableStyles" Target="/ppt/tableStyles.xml" Id="R88d2649a6ba2465f" /><Relationship Type="http://schemas.openxmlformats.org/officeDocument/2006/relationships/slide" Target="/ppt/slides/slide1.xml" Id="Rb7f4774b5aa748eb" /><Relationship Type="http://schemas.openxmlformats.org/officeDocument/2006/relationships/slide" Target="/ppt/slides/slide2.xml" Id="R4300bba969e5495c" /><Relationship Type="http://schemas.openxmlformats.org/officeDocument/2006/relationships/slide" Target="/ppt/slides/slide3.xml" Id="Rbb5a3b3765ed41aa" /><Relationship Type="http://schemas.openxmlformats.org/officeDocument/2006/relationships/slide" Target="/ppt/slides/slide4.xml" Id="Rcfd68f046f074a4b" /><Relationship Type="http://schemas.openxmlformats.org/officeDocument/2006/relationships/slide" Target="/ppt/slides/slide5.xml" Id="R604b549aadb54f4a" /><Relationship Type="http://schemas.openxmlformats.org/officeDocument/2006/relationships/slide" Target="/ppt/slides/slide6.xml" Id="Rb7e8490b1b84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25fc9d90c74b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c14421cfad4f92" /><Relationship Type="http://schemas.openxmlformats.org/officeDocument/2006/relationships/notesMaster" Target="/ppt/notesMasters/notesMaster1.xml" Id="Rcdb3dafd1ee24c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b42f5d4ba44c5b" /><Relationship Type="http://schemas.openxmlformats.org/officeDocument/2006/relationships/notesMaster" Target="/ppt/notesMasters/notesMaster1.xml" Id="Rf0130c745e1a4d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883eff13b74159" /><Relationship Type="http://schemas.openxmlformats.org/officeDocument/2006/relationships/notesMaster" Target="/ppt/notesMasters/notesMaster1.xml" Id="Rfcadef14117441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7ee5739c1246a3" /><Relationship Type="http://schemas.openxmlformats.org/officeDocument/2006/relationships/notesMaster" Target="/ppt/notesMasters/notesMaster1.xml" Id="R75327e2b38e547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a78c248b40428a" /><Relationship Type="http://schemas.openxmlformats.org/officeDocument/2006/relationships/notesMaster" Target="/ppt/notesMasters/notesMaster1.xml" Id="Rf465f3efd1ce48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373f243e7d4933" /><Relationship Type="http://schemas.openxmlformats.org/officeDocument/2006/relationships/notesMaster" Target="/ppt/notesMasters/notesMaster1.xml" Id="R2be861403ed0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definition and observed scope: README.md; work/run-review-qa.md; work/live-sponsor-qa.md. No production accuracy, productivity or full sponsor-compliance claim. This is an internal review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browser/API controller evidence: docs/frontend-integration.md; work/run-review-qa.md. Actual NVIDIA partial receipts and failures: work/live-sponsor-qa.md and docs/nvidia-activation.md. The current browser remains deterministic. Direct NVIDIA is not Nightshift.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actual HTTP runs are preserved in .local/submission/samples.json and individual output files. Run IDs: supported: 10082dea-a551-4e0b-80ae-33dcc4decd87; contradicted: 05f2b9a6-e87b-4e4e-b62b-b80531a133ca; cutoff: 1ad5e77e-d8e7-46ce-ac54-476278cbb3a3. Assertions are analyst test inputs, not issuer quotations. SEC source https://www.sec.gov/Archives/edgar/data/1035267/000103526726000058/isrg-20260630.htm, published July 21, 2026. The cutoff case deliberately predates this filing; an earlier issuer release requires its own verified ingestion.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Safeguards: backend/investigation/model_contracts.py; dispatcher.py; tools.py; memory.py; backend/run_store.py. Genuine H-MEM engine/store/review/recall tests: work/live-sponsor-qa.md. Correction tests use synthetic financial inputs and deterministic hash embeddings, not semantic embedding inference or real human financial sign-off. Original filing rounding and upstream Zetaris DOUBLE precision cannot be recovered.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Sponsor evidence: README.md integration matrix; docs/nightshift-windows-activation.md; docs/nvidia-activation.md; work/live-sponsor-qa.md. Nightshift 1.2.7 status/discover both E_UNREACHABLE, exit12. Laptop integrated Intel Iris Xe/8GB does not meet published dedicated GPU requirements; supported cloud-only startup unverified. No local model was loaded. Direct NVIDIA does not satisfy the mandatory Nightshift-provider requirement. H-MEM actual engine execution is separate from Nightshift inference. No qualifying Cursor contribution follows from installation.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organizer checklist supplied by the project lead October26: working end-to-end application, tested Zetaris, functioning Meterless Engine feature, Nightshift as AI provider, genuine traces, three README samples, 1–4-minute video, deck, accessible GitHub repository and accurate disclosures. This deck does not authorize merge, deploy, publishing, judge invitations or submission. Video existence/duration must be checked by the lead separately; no recorded video is claimed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8af7c831942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8f3b14d8b46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53bf27b5048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0e988eeab42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fc73ad5c74d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e4457f8cb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B775D4-BA02-4D3C-BA66-5CBF38B68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D10ACC-4FFC-494B-B4DF-E976A62D1A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65CAFA-AB15-4C71-A40D-F3F1E98C7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6033D1-8B3E-434E-BE4B-7ECABA9E88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F0CE50-F880-4B23-8885-03BE2F2296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6889DF-3BF2-41AB-9F6F-F27643729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292271-DA49-4DC0-9F0F-6EDBB6C9EC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438047-9B1D-4944-975C-BBE15F024A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0753BA-E987-47D7-B3D0-7CFD839E2D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6F06D1-5242-43A1-9509-0D425356D4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d5aba27bb542c5" /><Relationship Type="http://schemas.openxmlformats.org/officeDocument/2006/relationships/slideLayout" Target="/ppt/slideLayouts/slideLayout1.xml" Id="R113c686137a443d5" /><Relationship Type="http://schemas.openxmlformats.org/officeDocument/2006/relationships/slideLayout" Target="/ppt/slideLayouts/slideLayout2.xml" Id="R0faa7410f42e48bc" /><Relationship Type="http://schemas.openxmlformats.org/officeDocument/2006/relationships/slideLayout" Target="/ppt/slideLayouts/slideLayout3.xml" Id="R57a42461ce7046a3" /><Relationship Type="http://schemas.openxmlformats.org/officeDocument/2006/relationships/slideLayout" Target="/ppt/slideLayouts/slideLayout4.xml" Id="R45cb9b36d81c4ec6" /><Relationship Type="http://schemas.openxmlformats.org/officeDocument/2006/relationships/slideLayout" Target="/ppt/slideLayouts/slideLayout5.xml" Id="R600f341481b04e47" /><Relationship Type="http://schemas.openxmlformats.org/officeDocument/2006/relationships/slideLayout" Target="/ppt/slideLayouts/slideLayout6.xml" Id="R6a6fd93054414d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3c686137a443d5"/>
    <p:sldLayoutId xmlns:r="http://schemas.openxmlformats.org/officeDocument/2006/relationships" id="2147483650" r:id="R0faa7410f42e48bc"/>
    <p:sldLayoutId xmlns:r="http://schemas.openxmlformats.org/officeDocument/2006/relationships" id="2147483651" r:id="R57a42461ce7046a3"/>
    <p:sldLayoutId xmlns:r="http://schemas.openxmlformats.org/officeDocument/2006/relationships" id="2147483652" r:id="R45cb9b36d81c4ec6"/>
    <p:sldLayoutId xmlns:r="http://schemas.openxmlformats.org/officeDocument/2006/relationships" id="2147483653" r:id="R600f341481b04e47"/>
    <p:sldLayoutId xmlns:r="http://schemas.openxmlformats.org/officeDocument/2006/relationships" id="2147483654" r:id="R6a6fd93054414d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11633e5604924" /><Relationship Type="http://schemas.openxmlformats.org/officeDocument/2006/relationships/notesSlide" Target="/ppt/notesSlides/notesSlide1.xml" Id="Rcac43f83b28c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3e06a0adb426e" /><Relationship Type="http://schemas.openxmlformats.org/officeDocument/2006/relationships/notesSlide" Target="/ppt/notesSlides/notesSlide2.xml" Id="R35bdf3d033ed4a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a2325cc85447ee" /><Relationship Type="http://schemas.openxmlformats.org/officeDocument/2006/relationships/notesSlide" Target="/ppt/notesSlides/notesSlide3.xml" Id="Rd5bf5640db9743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d4d33155742b0" /><Relationship Type="http://schemas.openxmlformats.org/officeDocument/2006/relationships/notesSlide" Target="/ppt/notesSlides/notesSlide4.xml" Id="R2d532191099245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0d205d7b843c9" /><Relationship Type="http://schemas.openxmlformats.org/officeDocument/2006/relationships/notesSlide" Target="/ppt/notesSlides/notesSlide5.xml" Id="R69d6876cc44a49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fa2c9af8d4834" /><Relationship Type="http://schemas.openxmlformats.org/officeDocument/2006/relationships/notesSlide" Target="/ppt/notesSlides/notesSlide6.xml" Id="R9679b1708e3e47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D2792-7A5D-4EB6-B635-B1FC72E2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D7B66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7B66B"/>
                </a:solidFill>
                <a:latin typeface="Arial"/>
                <a:ea typeface="Arial"/>
                <a:cs typeface="Arial"/>
              </a:rPr>
              <a:t>ClaimTrace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0849A-3D16-4B70-B92A-3135B494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Earnings Brief Gatekeeper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336F3-8D6A-44FB-AE3D-621007E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8E0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8E0E5"/>
                </a:solidFill>
                <a:latin typeface="Arial"/>
                <a:ea typeface="Arial"/>
                <a:cs typeface="Arial"/>
              </a:rPr>
              <a:t>Quarterly financial claims, evidence and human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B9A3D-76EB-42B6-90A2-B7ABBDB2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5C285"/>
                </a:solidFill>
                <a:latin typeface="Arial"/>
                <a:ea typeface="Arial"/>
                <a:cs typeface="Arial"/>
              </a:rPr>
              <a:t>Internal review • October 26, 2026</a:t>
            </a:r>
          </a:p>
          <a:p xmlns:a="http://schemas.openxmlformats.org/drawingml/2006/main">
            <a:pPr>
              <a:defRPr sz="1725" b="0">
                <a:solidFill>
                  <a:srgbClr val="E5C2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5C285"/>
                </a:solidFill>
                <a:latin typeface="Arial"/>
                <a:ea typeface="Arial"/>
                <a:cs typeface="Arial"/>
              </a:rPr>
              <a:t>Mandatory Nightshift provider integration remains unmet</a:t>
            </a:r>
          </a:p>
        </p:txBody>
      </p:sp>
    </p:spTree>
    <p:extLst>
      <p:ext uri="{BB962C8B-B14F-4D97-AF65-F5344CB8AC3E}">
        <p14:creationId xmlns:p14="http://schemas.microsoft.com/office/powerpoint/2010/main" val="1163706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381D8-7D76-4839-A045-3EE228DE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Current investigation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F1750-3FEC-40D3-9478-604A0EC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INTERNAL REVIEW  •  Nightshift provider requirement unmet  •  2/6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21D9C-D646-41F2-9F57-B125B56D1B79}"/>
              </a:ext>
            </a:extLst>
          </p:cNvPr>
          <p:cNvGraphicFramePr/>
          <p:nvPr/>
        </p:nvGraphicFramePr>
        <p:xfrm>
          <a:off xmlns:a="http://schemas.openxmlformats.org/drawingml/2006/main" x="685800" y="145732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8391525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T w="6668">
                      <a:solidFill>
                        <a:srgbClr val="D8D7CF"/>
                      </a:solidFill>
                      <a:prstDash val="solid"/>
                    </a:lnT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122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behavior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T w="6668">
                      <a:solidFill>
                        <a:srgbClr val="D8D7CF"/>
                      </a:solidFill>
                      <a:prstDash val="solid"/>
                    </a:lnT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1222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Company, quarter, cutoff and explicit analyst assertion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Retrieve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Attributed SEC evidence through SEC or existing Zetaris SQL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Check and challenge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Deterministic figures, units, periods, basis and bounded recheck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Human review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Immutable report, digest/revision protection and persistent decision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5D319-A7ED-44D6-8E77-18EFCED9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A35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A352C"/>
                </a:solidFill>
                <a:latin typeface="Arial"/>
                <a:ea typeface="Arial"/>
                <a:cs typeface="Arial"/>
              </a:rPr>
              <a:t>NVIDIA native proposals ran separately. No accepted completed model briefing is claimed.</a:t>
            </a:r>
          </a:p>
        </p:txBody>
      </p:sp>
    </p:spTree>
    <p:extLst>
      <p:ext uri="{BB962C8B-B14F-4D97-AF65-F5344CB8AC3E}">
        <p14:creationId xmlns:p14="http://schemas.microsoft.com/office/powerpoint/2010/main" val="243989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DB04B-E02F-490C-B1EA-2EC866E6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Three observed financial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47D9D-41BD-4A39-9EA0-24A65B0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INTERNAL REVIEW  •  Nightshift provider requirement unmet  •  3/6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89A2F-D5BF-42CD-A1FC-1C7306C393BA}"/>
              </a:ext>
            </a:extLst>
          </p:cNvPr>
          <p:cNvGraphicFramePr/>
          <p:nvPr/>
        </p:nvGraphicFramePr>
        <p:xfrm>
          <a:off xmlns:a="http://schemas.openxmlformats.org/drawingml/2006/main" x="685800" y="145732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762250"/>
                <a:gridCol w="3962400"/>
              </a:tblGrid>
              <a:tr h="809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Analyst test input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T w="6668">
                      <a:solidFill>
                        <a:srgbClr val="D8D7CF"/>
                      </a:solidFill>
                      <a:prstDash val="solid"/>
                    </a:lnT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122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result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T w="6668">
                      <a:solidFill>
                        <a:srgbClr val="D8D7CF"/>
                      </a:solidFill>
                      <a:prstDash val="solid"/>
                    </a:lnT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122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meaning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T w="6668">
                      <a:solidFill>
                        <a:srgbClr val="D8D7CF"/>
                      </a:solidFill>
                      <a:prstDash val="solid"/>
                    </a:lnT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12223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ISRG Q2 2026 EPS 2.29 USD/shares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Supported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Comparable quarter evidence agrees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Same quarter EPS 9.99 USD/shares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Contradicted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Actual EPS 2.29; difference −7.70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Cutoff July 20, 2026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No eligible filing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Insufficient evidence before July 21 filing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BEC62-1630-440D-9031-F060E5A4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Actual returned source modes: live_zetaris, cached_sec. These are deterministic controller outputs, not AI reasoning.</a:t>
            </a:r>
          </a:p>
        </p:txBody>
      </p:sp>
    </p:spTree>
    <p:extLst>
      <p:ext uri="{BB962C8B-B14F-4D97-AF65-F5344CB8AC3E}">
        <p14:creationId xmlns:p14="http://schemas.microsoft.com/office/powerpoint/2010/main" val="1075415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0A7A0-11D8-48E2-B32A-E62CB416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Evidence and review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BDAE8-540D-4CD1-A9D7-45FBFBEA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INTERNAL REVIEW  •  Nightshift provider requirement unmet  •  4/6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A09C7-0CBD-4F9D-86F1-C5CF445E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E842F"/>
                </a:solidFill>
                <a:latin typeface="Arial"/>
                <a:ea typeface="Arial"/>
                <a:cs typeface="Arial"/>
              </a:rPr>
              <a:t>01  Comparable financial 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BB0FE-EE2C-4012-B6B4-5DA151A9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738"/>
                </a:solidFill>
                <a:latin typeface="Arial"/>
                <a:ea typeface="Arial"/>
                <a:cs typeface="Arial"/>
              </a:rPr>
              <a:t>Exact quarter, units and GAAP basis; explicit calculation inputs; no year-to-date substitution.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971AB-3066-4F38-AB03-B2650F81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E842F"/>
                </a:solidFill>
                <a:latin typeface="Arial"/>
                <a:ea typeface="Arial"/>
                <a:cs typeface="Arial"/>
              </a:rPr>
              <a:t>02  Sources and publication 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D84E5-29B6-451E-BA3A-9AAF4C06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738"/>
                </a:solidFill>
                <a:latin typeface="Arial"/>
                <a:ea typeface="Arial"/>
                <a:cs typeface="Arial"/>
              </a:rPr>
              <a:t>Primary citations, as-of filtering and source fingerprints. Unresolved findings remain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1C3A8-A43E-4E24-B734-D5068303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E842F"/>
                </a:solidFill>
                <a:latin typeface="Arial"/>
                <a:ea typeface="Arial"/>
                <a:cs typeface="Arial"/>
              </a:rPr>
              <a:t>03  Reviewed memory and durable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77B42-7939-4B82-92E3-E872F780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738"/>
                </a:solidFill>
                <a:latin typeface="Arial"/>
                <a:ea typeface="Arial"/>
                <a:cs typeface="Arial"/>
              </a:rPr>
              <a:t>H-MEM corrections require approval and persist. Recall is scoped; memory cannot replace financial evidence.</a:t>
            </a:r>
          </a:p>
        </p:txBody>
      </p:sp>
    </p:spTree>
    <p:extLst>
      <p:ext uri="{BB962C8B-B14F-4D97-AF65-F5344CB8AC3E}">
        <p14:creationId xmlns:p14="http://schemas.microsoft.com/office/powerpoint/2010/main" val="1267677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789EA-4A6E-4FE9-A0F9-B0298B1C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Sponsor functionality and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CC841-E125-4CF8-9C2D-A652A88D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INTERNAL REVIEW  •  Nightshift provider requirement unmet  •  5/6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DFC11-8749-4038-8992-7BDBD108EE28}"/>
              </a:ext>
            </a:extLst>
          </p:cNvPr>
          <p:cNvGraphicFramePr/>
          <p:nvPr/>
        </p:nvGraphicFramePr>
        <p:xfrm>
          <a:off xmlns:a="http://schemas.openxmlformats.org/drawingml/2006/main" x="685800" y="1419225"/>
          <a:ext xmlns:a="http://schemas.openxmlformats.org/drawingml/2006/main" cx="108204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4257675"/>
                <a:gridCol w="4257675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T w="6668">
                      <a:solidFill>
                        <a:srgbClr val="D8D7CF"/>
                      </a:solidFill>
                      <a:prstDash val="solid"/>
                    </a:lnT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122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contribution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T w="6668">
                      <a:solidFill>
                        <a:srgbClr val="D8D7CF"/>
                      </a:solidFill>
                      <a:prstDash val="solid"/>
                    </a:lnT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122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Remaining limitation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T w="6668">
                      <a:solidFill>
                        <a:srgbClr val="D8D7CF"/>
                      </a:solidFill>
                      <a:prstDash val="solid"/>
                    </a:lnT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12223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Zetaris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Real scoped financial SQL and SEC provenance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Initial approved view has limited company/period coverage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Meterless H-MEM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Actual store, reviewed correction and scoped recall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Hash embeddings; synthetic correction-test financial inputs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NVIDIA Nemotron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Genuine hosted calls and native financial tool proposals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Partial runs; no accepted completed model briefing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Nightshift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Official installation and CLI checked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MANDATORY GAP: Runtime unreachable; cloud-only startup unverified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0EEE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Cursor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8D7CF"/>
                      </a:solidFill>
                      <a:prstDash val="solid"/>
                    </a:lnL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Existing environment preserved for independent review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738"/>
                          </a:solidFill>
                          <a:latin typeface="Arial"/>
                          <a:ea typeface="Arial"/>
                          <a:cs typeface="Arial"/>
                        </a:rPr>
                        <a:t>Qualifying human product contribution not documented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8D7CF"/>
                      </a:solidFill>
                      <a:prstDash val="solid"/>
                    </a:lnR>
                    <a:lnB w="6668">
                      <a:solidFill>
                        <a:srgbClr val="D8D7CF"/>
                      </a:solidFill>
                      <a:prstDash val="solid"/>
                    </a:lnB>
                    <a:solidFill>
                      <a:srgbClr val="FAF8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798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16A5E-7F7D-4324-B63B-CFFC69CE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Actions required before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2EB41-B0A4-453E-B235-6EB7DB1E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INTERNAL REVIEW  •  Nightshift provider requirement unmet  •  6/6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E088-E223-4592-8D8B-CF3AF0DE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E84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2150E-724E-47CB-9A14-95A6B46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38275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Resolve the mandatory Nightshift provider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B4637-1800-4009-833F-CB7DA8BA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85950"/>
            <a:ext cx="10172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Confirm supported cloud-only startup or obtain an authorized compatible host.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73154-989A-404E-A632-440E7D0A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E84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4BC0A-6642-4729-A89E-93B3C37E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3650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Approve reviewed changes and judge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A373F-CB2B-45E1-A2CE-001D015E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81325"/>
            <a:ext cx="10172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PRs remain unmerged; the repository is private until the lead approves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60A4C-6E20-46C9-AE08-779370C8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E84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97430-F53D-4FC0-9D63-2591A787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29025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Review the actual demonstration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32D34-9A2B-42FA-856C-23FBB386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10172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Confirm a 1–4-minute video, readable traces and these accurate sponsor disclosures.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DFBB6-8B6C-452E-B6D6-5C26CDA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E84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E84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61B21-A272-4245-A562-61283487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27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738"/>
                </a:solidFill>
                <a:latin typeface="Arial"/>
                <a:ea typeface="Arial"/>
                <a:cs typeface="Arial"/>
              </a:rPr>
              <a:t>Verify final submission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45D72-A9DA-42A9-B6B3-B02256B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72075"/>
            <a:ext cx="10172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Check the registered roster, pre-existing components, artifact links and final organizer form.</a:t>
            </a:r>
          </a:p>
        </p:txBody>
      </p:sp>
    </p:spTree>
    <p:extLst>
      <p:ext uri="{BB962C8B-B14F-4D97-AF65-F5344CB8AC3E}">
        <p14:creationId xmlns:p14="http://schemas.microsoft.com/office/powerpoint/2010/main" val="1186904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2026-10-27T02:35:40.5710000Z</dcterms:created>
  <dcterms:modified xsi:type="dcterms:W3CDTF">2026-10-27T02:35:40.5710000Z</dcterms:modified>
</coreProperties>
</file>